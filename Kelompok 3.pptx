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Helvetica World" charset="1" panose="020B0500040000020004"/>
      <p:regular r:id="rId29"/>
    </p:embeddedFont>
    <p:embeddedFont>
      <p:font typeface="Public Sans"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2191317" y="4166035"/>
            <a:ext cx="13020939" cy="1945405"/>
          </a:xfrm>
          <a:prstGeom prst="rect">
            <a:avLst/>
          </a:prstGeom>
        </p:spPr>
        <p:txBody>
          <a:bodyPr anchor="t" rtlCol="false" tIns="0" lIns="0" bIns="0" rIns="0">
            <a:spAutoFit/>
          </a:bodyPr>
          <a:lstStyle/>
          <a:p>
            <a:pPr algn="l">
              <a:lnSpc>
                <a:spcPts val="5096"/>
              </a:lnSpc>
            </a:pPr>
            <a:r>
              <a:rPr lang="en-US" sz="4246">
                <a:solidFill>
                  <a:srgbClr val="000000"/>
                </a:solidFill>
                <a:latin typeface="Helvetica World"/>
                <a:ea typeface="Helvetica World"/>
                <a:cs typeface="Helvetica World"/>
                <a:sym typeface="Helvetica World"/>
              </a:rPr>
              <a:t>PENGOLAHAN CITRA DIGITAL UNTUK KLASIFIKASI SAMPAH ORGANIK DAN ANORGANIK MENGGUNAKAN RANDOM FOREST</a:t>
            </a:r>
          </a:p>
        </p:txBody>
      </p:sp>
      <p:grpSp>
        <p:nvGrpSpPr>
          <p:cNvPr name="Group 3" id="3"/>
          <p:cNvGrpSpPr/>
          <p:nvPr/>
        </p:nvGrpSpPr>
        <p:grpSpPr>
          <a:xfrm rot="5400000">
            <a:off x="-1563668" y="3919630"/>
            <a:ext cx="2754345" cy="275434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49804"/>
                </a:srgbClr>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7074339" y="3766328"/>
            <a:ext cx="2754345" cy="27543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25882"/>
                </a:srgbClr>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9" id="9"/>
          <p:cNvGrpSpPr/>
          <p:nvPr/>
        </p:nvGrpSpPr>
        <p:grpSpPr>
          <a:xfrm rot="5400000">
            <a:off x="15327840" y="3766328"/>
            <a:ext cx="2754345" cy="275434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10980"/>
                </a:srgbClr>
              </a:solidFill>
              <a:prstDash val="solid"/>
              <a:miter/>
            </a:ln>
          </p:spPr>
        </p:sp>
        <p:sp>
          <p:nvSpPr>
            <p:cNvPr name="TextBox 11" id="11"/>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AutoShape 12" id="12"/>
          <p:cNvSpPr/>
          <p:nvPr/>
        </p:nvSpPr>
        <p:spPr>
          <a:xfrm>
            <a:off x="2257477" y="9313173"/>
            <a:ext cx="4893889" cy="0"/>
          </a:xfrm>
          <a:prstGeom prst="line">
            <a:avLst/>
          </a:prstGeom>
          <a:ln cap="flat" w="19050">
            <a:solidFill>
              <a:srgbClr val="000000"/>
            </a:solidFill>
            <a:prstDash val="solid"/>
            <a:headEnd type="none" len="sm" w="sm"/>
            <a:tailEnd type="none" len="sm" w="sm"/>
          </a:ln>
        </p:spPr>
      </p:sp>
      <p:sp>
        <p:nvSpPr>
          <p:cNvPr name="AutoShape 13" id="13"/>
          <p:cNvSpPr/>
          <p:nvPr/>
        </p:nvSpPr>
        <p:spPr>
          <a:xfrm>
            <a:off x="0" y="1392321"/>
            <a:ext cx="18288285" cy="0"/>
          </a:xfrm>
          <a:prstGeom prst="line">
            <a:avLst/>
          </a:prstGeom>
          <a:ln cap="flat" w="9525">
            <a:solidFill>
              <a:srgbClr val="000000"/>
            </a:solidFill>
            <a:prstDash val="solid"/>
            <a:headEnd type="none" len="sm" w="sm"/>
            <a:tailEnd type="none" len="sm" w="sm"/>
          </a:ln>
        </p:spPr>
      </p:sp>
      <p:sp>
        <p:nvSpPr>
          <p:cNvPr name="AutoShape 14" id="14"/>
          <p:cNvSpPr/>
          <p:nvPr/>
        </p:nvSpPr>
        <p:spPr>
          <a:xfrm>
            <a:off x="10318367" y="9332223"/>
            <a:ext cx="4893889" cy="0"/>
          </a:xfrm>
          <a:prstGeom prst="line">
            <a:avLst/>
          </a:prstGeom>
          <a:ln cap="flat" w="19050">
            <a:solidFill>
              <a:srgbClr val="000000"/>
            </a:solidFill>
            <a:prstDash val="solid"/>
            <a:headEnd type="none" len="sm" w="sm"/>
            <a:tailEnd type="none" len="sm" w="sm"/>
          </a:ln>
        </p:spPr>
      </p:sp>
      <p:sp>
        <p:nvSpPr>
          <p:cNvPr name="Freeform 15" id="15"/>
          <p:cNvSpPr/>
          <p:nvPr/>
        </p:nvSpPr>
        <p:spPr>
          <a:xfrm flipH="false" flipV="false" rot="0">
            <a:off x="1190677" y="588879"/>
            <a:ext cx="386853" cy="366455"/>
          </a:xfrm>
          <a:custGeom>
            <a:avLst/>
            <a:gdLst/>
            <a:ahLst/>
            <a:cxnLst/>
            <a:rect r="r" b="b" t="t" l="l"/>
            <a:pathLst>
              <a:path h="366455" w="386853">
                <a:moveTo>
                  <a:pt x="0" y="0"/>
                </a:moveTo>
                <a:lnTo>
                  <a:pt x="386852" y="0"/>
                </a:lnTo>
                <a:lnTo>
                  <a:pt x="386852" y="366455"/>
                </a:lnTo>
                <a:lnTo>
                  <a:pt x="0" y="3664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2257477" y="6429535"/>
            <a:ext cx="8761335" cy="415220"/>
          </a:xfrm>
          <a:prstGeom prst="rect">
            <a:avLst/>
          </a:prstGeom>
        </p:spPr>
        <p:txBody>
          <a:bodyPr anchor="t" rtlCol="false" tIns="0" lIns="0" bIns="0" rIns="0">
            <a:spAutoFit/>
          </a:bodyPr>
          <a:lstStyle/>
          <a:p>
            <a:pPr algn="l">
              <a:lnSpc>
                <a:spcPts val="3363"/>
              </a:lnSpc>
            </a:pPr>
            <a:r>
              <a:rPr lang="en-US" sz="2402">
                <a:solidFill>
                  <a:srgbClr val="000000"/>
                </a:solidFill>
                <a:latin typeface="Public Sans"/>
                <a:ea typeface="Public Sans"/>
                <a:cs typeface="Public Sans"/>
                <a:sym typeface="Public Sans"/>
              </a:rPr>
              <a:t>Kelompok 3</a:t>
            </a:r>
          </a:p>
        </p:txBody>
      </p:sp>
      <p:sp>
        <p:nvSpPr>
          <p:cNvPr name="TextBox 17" id="17"/>
          <p:cNvSpPr txBox="true"/>
          <p:nvPr/>
        </p:nvSpPr>
        <p:spPr>
          <a:xfrm rot="0">
            <a:off x="1756499" y="635921"/>
            <a:ext cx="5791924" cy="585470"/>
          </a:xfrm>
          <a:prstGeom prst="rect">
            <a:avLst/>
          </a:prstGeom>
        </p:spPr>
        <p:txBody>
          <a:bodyPr anchor="t" rtlCol="false" tIns="0" lIns="0" bIns="0" rIns="0">
            <a:spAutoFit/>
          </a:bodyPr>
          <a:lstStyle/>
          <a:p>
            <a:pPr algn="l">
              <a:lnSpc>
                <a:spcPts val="2380"/>
              </a:lnSpc>
            </a:pPr>
            <a:r>
              <a:rPr lang="en-US" sz="1700">
                <a:solidFill>
                  <a:srgbClr val="000000"/>
                </a:solidFill>
                <a:latin typeface="Public Sans"/>
                <a:ea typeface="Public Sans"/>
                <a:cs typeface="Public Sans"/>
                <a:sym typeface="Public Sans"/>
              </a:rPr>
              <a:t>Citra Digital</a:t>
            </a:r>
          </a:p>
          <a:p>
            <a:pPr algn="l">
              <a:lnSpc>
                <a:spcPts val="2380"/>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6F1"/>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4764746" y="4034672"/>
          <a:ext cx="5761898" cy="4220348"/>
        </p:xfrm>
        <a:graphic>
          <a:graphicData uri="http://schemas.openxmlformats.org/drawingml/2006/table">
            <a:tbl>
              <a:tblPr/>
              <a:tblGrid>
                <a:gridCol w="2363105"/>
              </a:tblGrid>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Pep</a:t>
                      </a:r>
                      <a:r>
                        <a:rPr lang="en-US" sz="2401">
                          <a:solidFill>
                            <a:srgbClr val="000000"/>
                          </a:solidFill>
                          <a:latin typeface="Public Sans"/>
                          <a:ea typeface="Public Sans"/>
                          <a:cs typeface="Public Sans"/>
                          <a:sym typeface="Public Sans"/>
                        </a:rPr>
                        <a:t>py Parhani Nopianti</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CCCCCC"/>
                      </a:solidFill>
                      <a:prstDash val="solid"/>
                      <a:round/>
                      <a:headEnd type="none" w="med" len="med"/>
                      <a:tailEnd type="none" w="med" len="med"/>
                    </a:lnB>
                  </a:tcPr>
                </a:tc>
              </a:tr>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Siti Rahm</a:t>
                      </a:r>
                      <a:r>
                        <a:rPr lang="en-US" sz="2401">
                          <a:solidFill>
                            <a:srgbClr val="000000"/>
                          </a:solidFill>
                          <a:latin typeface="Public Sans"/>
                          <a:ea typeface="Public Sans"/>
                          <a:cs typeface="Public Sans"/>
                          <a:sym typeface="Public Sans"/>
                        </a:rPr>
                        <a:t>a Alia</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tcPr>
                </a:tc>
              </a:tr>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Nasyi</a:t>
                      </a:r>
                      <a:r>
                        <a:rPr lang="en-US" sz="2401">
                          <a:solidFill>
                            <a:srgbClr val="000000"/>
                          </a:solidFill>
                          <a:latin typeface="Public Sans"/>
                          <a:ea typeface="Public Sans"/>
                          <a:cs typeface="Public Sans"/>
                          <a:sym typeface="Public Sans"/>
                        </a:rPr>
                        <a:t>d Naofal Putra</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FCFCF"/>
                      </a:solidFill>
                      <a:prstDash val="solid"/>
                      <a:round/>
                      <a:headEnd type="none" w="med" len="med"/>
                      <a:tailEnd type="none" w="med" len="med"/>
                    </a:lnB>
                  </a:tcPr>
                </a:tc>
              </a:tr>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M. Farhan Rizkilillah</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CFCFCF"/>
                      </a:solidFill>
                      <a:prstDash val="solid"/>
                      <a:round/>
                      <a:headEnd type="none" w="med" len="med"/>
                      <a:tailEnd type="none" w="med" len="med"/>
                    </a:lnT>
                    <a:lnB cmpd="sng" algn="ctr" cap="flat" w="0">
                      <a:solidFill>
                        <a:srgbClr val="CCCCCC"/>
                      </a:solidFill>
                      <a:prstDash val="solid"/>
                      <a:round/>
                      <a:headEnd type="none" w="med" len="med"/>
                      <a:tailEnd type="none" w="med" len="med"/>
                    </a:lnB>
                  </a:tcPr>
                </a:tc>
              </a:tr>
            </a:tbl>
          </a:graphicData>
        </a:graphic>
      </p:graphicFrame>
      <p:graphicFrame>
        <p:nvGraphicFramePr>
          <p:cNvPr name="Table 3" id="3"/>
          <p:cNvGraphicFramePr>
            <a:graphicFrameLocks noGrp="true"/>
          </p:cNvGraphicFramePr>
          <p:nvPr/>
        </p:nvGraphicFramePr>
        <p:xfrm>
          <a:off x="9374907" y="4034672"/>
          <a:ext cx="5761898" cy="4220348"/>
        </p:xfrm>
        <a:graphic>
          <a:graphicData uri="http://schemas.openxmlformats.org/drawingml/2006/table">
            <a:tbl>
              <a:tblPr/>
              <a:tblGrid>
                <a:gridCol w="2363105"/>
              </a:tblGrid>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20230040139</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0">
                      <a:solidFill>
                        <a:srgbClr val="CCCCCC"/>
                      </a:solidFill>
                      <a:prstDash val="solid"/>
                      <a:round/>
                      <a:headEnd type="none" w="med" len="med"/>
                      <a:tailEnd type="none" w="med" len="med"/>
                    </a:lnB>
                  </a:tcPr>
                </a:tc>
              </a:tr>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20230040023</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tcPr>
                </a:tc>
              </a:tr>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20230040183</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FCFCF"/>
                      </a:solidFill>
                      <a:prstDash val="solid"/>
                      <a:round/>
                      <a:headEnd type="none" w="med" len="med"/>
                      <a:tailEnd type="none" w="med" len="med"/>
                    </a:lnB>
                  </a:tcPr>
                </a:tc>
              </a:tr>
              <a:tr h="1055087">
                <a:tc>
                  <a:txBody>
                    <a:bodyPr anchor="t" rtlCol="false"/>
                    <a:lstStyle/>
                    <a:p>
                      <a:pPr algn="l">
                        <a:lnSpc>
                          <a:spcPts val="3362"/>
                        </a:lnSpc>
                        <a:defRPr/>
                      </a:pPr>
                      <a:r>
                        <a:rPr lang="en-US" sz="2401">
                          <a:solidFill>
                            <a:srgbClr val="000000"/>
                          </a:solidFill>
                          <a:latin typeface="Public Sans"/>
                          <a:ea typeface="Public Sans"/>
                          <a:cs typeface="Public Sans"/>
                          <a:sym typeface="Public Sans"/>
                        </a:rPr>
                        <a:t>20230040309</a:t>
                      </a:r>
                      <a:endParaRPr lang="en-US" sz="1100"/>
                    </a:p>
                  </a:txBody>
                  <a:tcPr marL="198906" marR="198906" marT="198906" marB="198906" anchor="ctr">
                    <a:lnL cmpd="sng" algn="ctr" cap="flat" w="0">
                      <a:solidFill>
                        <a:srgbClr val="FFFFFF"/>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CFCFCF"/>
                      </a:solidFill>
                      <a:prstDash val="solid"/>
                      <a:round/>
                      <a:headEnd type="none" w="med" len="med"/>
                      <a:tailEnd type="none" w="med" len="med"/>
                    </a:lnT>
                    <a:lnB cmpd="sng" algn="ctr" cap="flat" w="0">
                      <a:solidFill>
                        <a:srgbClr val="CCCCCC"/>
                      </a:solidFill>
                      <a:prstDash val="solid"/>
                      <a:round/>
                      <a:headEnd type="none" w="med" len="med"/>
                      <a:tailEnd type="none" w="med" len="med"/>
                    </a:lnB>
                  </a:tcPr>
                </a:tc>
              </a:tr>
            </a:tbl>
          </a:graphicData>
        </a:graphic>
      </p:graphicFrame>
      <p:grpSp>
        <p:nvGrpSpPr>
          <p:cNvPr name="Group 4" id="4"/>
          <p:cNvGrpSpPr/>
          <p:nvPr/>
        </p:nvGrpSpPr>
        <p:grpSpPr>
          <a:xfrm rot="0">
            <a:off x="3608047" y="7326564"/>
            <a:ext cx="958291" cy="9582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3120"/>
                </a:lnSpc>
              </a:pPr>
              <a:r>
                <a:rPr lang="en-US" sz="2400">
                  <a:solidFill>
                    <a:srgbClr val="000000"/>
                  </a:solidFill>
                  <a:latin typeface="Public Sans"/>
                  <a:ea typeface="Public Sans"/>
                  <a:cs typeface="Public Sans"/>
                  <a:sym typeface="Public Sans"/>
                </a:rPr>
                <a:t>4</a:t>
              </a:r>
            </a:p>
          </p:txBody>
        </p:sp>
      </p:grpSp>
      <p:grpSp>
        <p:nvGrpSpPr>
          <p:cNvPr name="Group 7" id="7"/>
          <p:cNvGrpSpPr/>
          <p:nvPr/>
        </p:nvGrpSpPr>
        <p:grpSpPr>
          <a:xfrm rot="0">
            <a:off x="3608047" y="6212091"/>
            <a:ext cx="958291" cy="95829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alpha val="72941"/>
                </a:srgbClr>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3120"/>
                </a:lnSpc>
              </a:pPr>
              <a:r>
                <a:rPr lang="en-US" sz="2400">
                  <a:solidFill>
                    <a:srgbClr val="000000">
                      <a:alpha val="72941"/>
                    </a:srgbClr>
                  </a:solidFill>
                  <a:latin typeface="Public Sans"/>
                  <a:ea typeface="Public Sans"/>
                  <a:cs typeface="Public Sans"/>
                  <a:sym typeface="Public Sans"/>
                </a:rPr>
                <a:t>3</a:t>
              </a:r>
            </a:p>
          </p:txBody>
        </p:sp>
      </p:grpSp>
      <p:grpSp>
        <p:nvGrpSpPr>
          <p:cNvPr name="Group 10" id="10"/>
          <p:cNvGrpSpPr/>
          <p:nvPr/>
        </p:nvGrpSpPr>
        <p:grpSpPr>
          <a:xfrm rot="0">
            <a:off x="3608047" y="5097618"/>
            <a:ext cx="958291" cy="95829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alpha val="48627"/>
                </a:srgbClr>
              </a:solidFill>
              <a:prstDash val="solid"/>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3120"/>
                </a:lnSpc>
              </a:pPr>
              <a:r>
                <a:rPr lang="en-US" sz="2400">
                  <a:solidFill>
                    <a:srgbClr val="000000">
                      <a:alpha val="48627"/>
                    </a:srgbClr>
                  </a:solidFill>
                  <a:latin typeface="Public Sans"/>
                  <a:ea typeface="Public Sans"/>
                  <a:cs typeface="Public Sans"/>
                  <a:sym typeface="Public Sans"/>
                </a:rPr>
                <a:t>2</a:t>
              </a:r>
            </a:p>
          </p:txBody>
        </p:sp>
      </p:grpSp>
      <p:grpSp>
        <p:nvGrpSpPr>
          <p:cNvPr name="Group 13" id="13"/>
          <p:cNvGrpSpPr/>
          <p:nvPr/>
        </p:nvGrpSpPr>
        <p:grpSpPr>
          <a:xfrm rot="0">
            <a:off x="3608047" y="3983146"/>
            <a:ext cx="958291" cy="95829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alpha val="43922"/>
                </a:srgbClr>
              </a:solid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3120"/>
                </a:lnSpc>
              </a:pPr>
              <a:r>
                <a:rPr lang="en-US" sz="2400">
                  <a:solidFill>
                    <a:srgbClr val="000000">
                      <a:alpha val="43922"/>
                    </a:srgbClr>
                  </a:solidFill>
                  <a:latin typeface="Public Sans"/>
                  <a:ea typeface="Public Sans"/>
                  <a:cs typeface="Public Sans"/>
                  <a:sym typeface="Public Sans"/>
                </a:rPr>
                <a:t>1</a:t>
              </a:r>
            </a:p>
          </p:txBody>
        </p:sp>
      </p:grpSp>
      <p:sp>
        <p:nvSpPr>
          <p:cNvPr name="AutoShape 16" id="16"/>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17" id="17"/>
          <p:cNvSpPr txBox="true"/>
          <p:nvPr/>
        </p:nvSpPr>
        <p:spPr>
          <a:xfrm rot="0">
            <a:off x="1150081" y="1785927"/>
            <a:ext cx="6378768" cy="878394"/>
          </a:xfrm>
          <a:prstGeom prst="rect">
            <a:avLst/>
          </a:prstGeom>
        </p:spPr>
        <p:txBody>
          <a:bodyPr anchor="t" rtlCol="false" tIns="0" lIns="0" bIns="0" rIns="0">
            <a:spAutoFit/>
          </a:bodyPr>
          <a:lstStyle/>
          <a:p>
            <a:pPr algn="l">
              <a:lnSpc>
                <a:spcPts val="6853"/>
              </a:lnSpc>
            </a:pPr>
            <a:r>
              <a:rPr lang="en-US" sz="5711">
                <a:solidFill>
                  <a:srgbClr val="000000"/>
                </a:solidFill>
                <a:latin typeface="Helvetica World"/>
                <a:ea typeface="Helvetica World"/>
                <a:cs typeface="Helvetica World"/>
                <a:sym typeface="Helvetica World"/>
              </a:rPr>
              <a:t>Anggota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1417509" y="3842822"/>
            <a:ext cx="12859880" cy="4729138"/>
          </a:xfrm>
          <a:prstGeom prst="rect">
            <a:avLst/>
          </a:prstGeom>
        </p:spPr>
        <p:txBody>
          <a:bodyPr anchor="t" rtlCol="false" tIns="0" lIns="0" bIns="0" rIns="0">
            <a:spAutoFit/>
          </a:bodyPr>
          <a:lstStyle/>
          <a:p>
            <a:pPr algn="l" marL="567149" indent="-283574" lvl="1">
              <a:lnSpc>
                <a:spcPts val="3414"/>
              </a:lnSpc>
              <a:buFont typeface="Arial"/>
              <a:buChar char="•"/>
            </a:pPr>
            <a:r>
              <a:rPr lang="en-US" sz="2626">
                <a:solidFill>
                  <a:srgbClr val="000000"/>
                </a:solidFill>
                <a:latin typeface="Public Sans"/>
                <a:ea typeface="Public Sans"/>
                <a:cs typeface="Public Sans"/>
                <a:sym typeface="Public Sans"/>
              </a:rPr>
              <a:t>Permasalahan Sampah</a:t>
            </a:r>
          </a:p>
          <a:p>
            <a:pPr algn="l">
              <a:lnSpc>
                <a:spcPts val="3414"/>
              </a:lnSpc>
            </a:pPr>
            <a:r>
              <a:rPr lang="en-US" sz="2626">
                <a:solidFill>
                  <a:srgbClr val="000000"/>
                </a:solidFill>
                <a:latin typeface="Public Sans"/>
                <a:ea typeface="Public Sans"/>
                <a:cs typeface="Public Sans"/>
                <a:sym typeface="Public Sans"/>
              </a:rPr>
              <a:t>Sampah masih menjadi permasalahan lingkungan yang serius karena sebagian besar masyarakat belum melakukan pemilahan sejak sumbernya.</a:t>
            </a:r>
          </a:p>
          <a:p>
            <a:pPr algn="l">
              <a:lnSpc>
                <a:spcPts val="3414"/>
              </a:lnSpc>
            </a:pPr>
          </a:p>
          <a:p>
            <a:pPr algn="l" marL="567149" indent="-283574" lvl="1">
              <a:lnSpc>
                <a:spcPts val="3414"/>
              </a:lnSpc>
              <a:buFont typeface="Arial"/>
              <a:buChar char="•"/>
            </a:pPr>
            <a:r>
              <a:rPr lang="en-US" sz="2626">
                <a:solidFill>
                  <a:srgbClr val="000000"/>
                </a:solidFill>
                <a:latin typeface="Public Sans"/>
                <a:ea typeface="Public Sans"/>
                <a:cs typeface="Public Sans"/>
                <a:sym typeface="Public Sans"/>
              </a:rPr>
              <a:t>Dampak Lingkungan</a:t>
            </a:r>
          </a:p>
          <a:p>
            <a:pPr algn="l">
              <a:lnSpc>
                <a:spcPts val="3414"/>
              </a:lnSpc>
            </a:pPr>
            <a:r>
              <a:rPr lang="en-US" sz="2626">
                <a:solidFill>
                  <a:srgbClr val="000000"/>
                </a:solidFill>
                <a:latin typeface="Public Sans"/>
                <a:ea typeface="Public Sans"/>
                <a:cs typeface="Public Sans"/>
                <a:sym typeface="Public Sans"/>
              </a:rPr>
              <a:t>Penumpukan sampah meningkatkan risiko pencemaran lingkungan dan gangguan kesehatan.</a:t>
            </a:r>
          </a:p>
          <a:p>
            <a:pPr algn="l">
              <a:lnSpc>
                <a:spcPts val="3414"/>
              </a:lnSpc>
            </a:pPr>
          </a:p>
          <a:p>
            <a:pPr algn="l" marL="567149" indent="-283574" lvl="1">
              <a:lnSpc>
                <a:spcPts val="3414"/>
              </a:lnSpc>
              <a:buFont typeface="Arial"/>
              <a:buChar char="•"/>
            </a:pPr>
            <a:r>
              <a:rPr lang="en-US" sz="2626">
                <a:solidFill>
                  <a:srgbClr val="000000"/>
                </a:solidFill>
                <a:latin typeface="Public Sans"/>
                <a:ea typeface="Public Sans"/>
                <a:cs typeface="Public Sans"/>
                <a:sym typeface="Public Sans"/>
              </a:rPr>
              <a:t>Solusi Teknologi</a:t>
            </a:r>
          </a:p>
          <a:p>
            <a:pPr algn="l">
              <a:lnSpc>
                <a:spcPts val="3414"/>
              </a:lnSpc>
            </a:pPr>
            <a:r>
              <a:rPr lang="en-US" sz="2626">
                <a:solidFill>
                  <a:srgbClr val="000000"/>
                </a:solidFill>
                <a:latin typeface="Public Sans"/>
                <a:ea typeface="Public Sans"/>
                <a:cs typeface="Public Sans"/>
                <a:sym typeface="Public Sans"/>
              </a:rPr>
              <a:t>Pengolahan citra digital memungkinkan identifikasi jenis sampah secara otomatis tanpa merusak objek.</a:t>
            </a:r>
          </a:p>
        </p:txBody>
      </p:sp>
      <p:sp>
        <p:nvSpPr>
          <p:cNvPr name="AutoShape 3" id="3"/>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38225" y="1427431"/>
            <a:ext cx="12808515" cy="1114425"/>
          </a:xfrm>
          <a:prstGeom prst="rect">
            <a:avLst/>
          </a:prstGeom>
        </p:spPr>
        <p:txBody>
          <a:bodyPr anchor="t" rtlCol="false" tIns="0" lIns="0" bIns="0" rIns="0">
            <a:spAutoFit/>
          </a:bodyPr>
          <a:lstStyle/>
          <a:p>
            <a:pPr algn="l" marL="0" indent="0" lvl="0">
              <a:lnSpc>
                <a:spcPts val="8640"/>
              </a:lnSpc>
              <a:spcBef>
                <a:spcPct val="0"/>
              </a:spcBef>
            </a:pPr>
            <a:r>
              <a:rPr lang="en-US" sz="7200">
                <a:solidFill>
                  <a:srgbClr val="000000"/>
                </a:solidFill>
                <a:latin typeface="Helvetica World"/>
                <a:ea typeface="Helvetica World"/>
                <a:cs typeface="Helvetica World"/>
                <a:sym typeface="Helvetica World"/>
              </a:rPr>
              <a:t>Latar belakang</a:t>
            </a:r>
          </a:p>
        </p:txBody>
      </p:sp>
      <p:grpSp>
        <p:nvGrpSpPr>
          <p:cNvPr name="Group 5" id="5"/>
          <p:cNvGrpSpPr/>
          <p:nvPr/>
        </p:nvGrpSpPr>
        <p:grpSpPr>
          <a:xfrm rot="5400000">
            <a:off x="15146179" y="1541619"/>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15362" y="1541619"/>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940143" y="4956436"/>
            <a:ext cx="15294248" cy="1527895"/>
          </a:xfrm>
          <a:prstGeom prst="rect">
            <a:avLst/>
          </a:prstGeom>
        </p:spPr>
        <p:txBody>
          <a:bodyPr anchor="t" rtlCol="false" tIns="0" lIns="0" bIns="0" rIns="0">
            <a:spAutoFit/>
          </a:bodyPr>
          <a:lstStyle/>
          <a:p>
            <a:pPr algn="l" marL="674510" indent="-337255" lvl="1">
              <a:lnSpc>
                <a:spcPts val="4061"/>
              </a:lnSpc>
              <a:buAutoNum type="arabicPeriod" startAt="1"/>
            </a:pPr>
            <a:r>
              <a:rPr lang="en-US" sz="3124">
                <a:solidFill>
                  <a:srgbClr val="000000"/>
                </a:solidFill>
                <a:latin typeface="Public Sans"/>
                <a:ea typeface="Public Sans"/>
                <a:cs typeface="Public Sans"/>
                <a:sym typeface="Public Sans"/>
              </a:rPr>
              <a:t>Bagaimana menerapkan tahapan pengolahan citra digital?</a:t>
            </a:r>
          </a:p>
          <a:p>
            <a:pPr algn="l" marL="674510" indent="-337255" lvl="1">
              <a:lnSpc>
                <a:spcPts val="4061"/>
              </a:lnSpc>
              <a:buAutoNum type="arabicPeriod" startAt="1"/>
            </a:pPr>
            <a:r>
              <a:rPr lang="en-US" sz="3124">
                <a:solidFill>
                  <a:srgbClr val="000000"/>
                </a:solidFill>
                <a:latin typeface="Public Sans"/>
                <a:ea typeface="Public Sans"/>
                <a:cs typeface="Public Sans"/>
                <a:sym typeface="Public Sans"/>
              </a:rPr>
              <a:t>Bagaimana akurasi sistem dalam mengklasifikasi sampah?</a:t>
            </a:r>
          </a:p>
          <a:p>
            <a:pPr algn="l" marL="674510" indent="-337255" lvl="1">
              <a:lnSpc>
                <a:spcPts val="4061"/>
              </a:lnSpc>
              <a:buAutoNum type="arabicPeriod" startAt="1"/>
            </a:pPr>
            <a:r>
              <a:rPr lang="en-US" sz="3124">
                <a:solidFill>
                  <a:srgbClr val="000000"/>
                </a:solidFill>
                <a:latin typeface="Public Sans"/>
                <a:ea typeface="Public Sans"/>
                <a:cs typeface="Public Sans"/>
                <a:sym typeface="Public Sans"/>
              </a:rPr>
              <a:t>Seberapa baik model mengklasifikasi citra baru?</a:t>
            </a:r>
          </a:p>
        </p:txBody>
      </p:sp>
      <p:sp>
        <p:nvSpPr>
          <p:cNvPr name="AutoShape 3" id="3"/>
          <p:cNvSpPr/>
          <p:nvPr/>
        </p:nvSpPr>
        <p:spPr>
          <a:xfrm>
            <a:off x="1038225" y="3333018"/>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47730" y="1806747"/>
            <a:ext cx="12808515" cy="1114425"/>
          </a:xfrm>
          <a:prstGeom prst="rect">
            <a:avLst/>
          </a:prstGeom>
        </p:spPr>
        <p:txBody>
          <a:bodyPr anchor="t" rtlCol="false" tIns="0" lIns="0" bIns="0" rIns="0">
            <a:spAutoFit/>
          </a:bodyPr>
          <a:lstStyle/>
          <a:p>
            <a:pPr algn="l" marL="0" indent="0" lvl="0">
              <a:lnSpc>
                <a:spcPts val="8640"/>
              </a:lnSpc>
              <a:spcBef>
                <a:spcPct val="0"/>
              </a:spcBef>
            </a:pPr>
            <a:r>
              <a:rPr lang="en-US" sz="7200">
                <a:solidFill>
                  <a:srgbClr val="000000"/>
                </a:solidFill>
                <a:latin typeface="Helvetica World"/>
                <a:ea typeface="Helvetica World"/>
                <a:cs typeface="Helvetica World"/>
                <a:sym typeface="Helvetica World"/>
              </a:rPr>
              <a:t>Rumusan Masalah</a:t>
            </a:r>
          </a:p>
        </p:txBody>
      </p:sp>
      <p:grpSp>
        <p:nvGrpSpPr>
          <p:cNvPr name="Group 5" id="5"/>
          <p:cNvGrpSpPr/>
          <p:nvPr/>
        </p:nvGrpSpPr>
        <p:grpSpPr>
          <a:xfrm rot="5400000">
            <a:off x="15155684" y="1920935"/>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24867" y="1920935"/>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42067" y="2238135"/>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1563599" y="4356781"/>
            <a:ext cx="12642929" cy="4386234"/>
          </a:xfrm>
          <a:prstGeom prst="rect">
            <a:avLst/>
          </a:prstGeom>
        </p:spPr>
        <p:txBody>
          <a:bodyPr anchor="t" rtlCol="false" tIns="0" lIns="0" bIns="0" rIns="0">
            <a:spAutoFit/>
          </a:bodyPr>
          <a:lstStyle/>
          <a:p>
            <a:pPr algn="l">
              <a:lnSpc>
                <a:spcPts val="3467"/>
              </a:lnSpc>
            </a:pPr>
            <a:r>
              <a:rPr lang="en-US" sz="2667">
                <a:solidFill>
                  <a:srgbClr val="000000"/>
                </a:solidFill>
                <a:latin typeface="Public Sans"/>
                <a:ea typeface="Public Sans"/>
                <a:cs typeface="Public Sans"/>
                <a:sym typeface="Public Sans"/>
              </a:rPr>
              <a:t>1 .Penerapan Pengolahan Citra Digital</a:t>
            </a:r>
          </a:p>
          <a:p>
            <a:pPr algn="l">
              <a:lnSpc>
                <a:spcPts val="3467"/>
              </a:lnSpc>
            </a:pPr>
            <a:r>
              <a:rPr lang="en-US" sz="2667">
                <a:solidFill>
                  <a:srgbClr val="000000"/>
                </a:solidFill>
                <a:latin typeface="Public Sans"/>
                <a:ea typeface="Public Sans"/>
                <a:cs typeface="Public Sans"/>
                <a:sym typeface="Public Sans"/>
              </a:rPr>
              <a:t>Mengimplementasikan tahapan pengolahan citra pada sampah organik dan anorganik.</a:t>
            </a:r>
          </a:p>
          <a:p>
            <a:pPr algn="l">
              <a:lnSpc>
                <a:spcPts val="3467"/>
              </a:lnSpc>
            </a:pPr>
          </a:p>
          <a:p>
            <a:pPr algn="l">
              <a:lnSpc>
                <a:spcPts val="3467"/>
              </a:lnSpc>
            </a:pPr>
            <a:r>
              <a:rPr lang="en-US" sz="2667">
                <a:solidFill>
                  <a:srgbClr val="000000"/>
                </a:solidFill>
                <a:latin typeface="Public Sans"/>
                <a:ea typeface="Public Sans"/>
                <a:cs typeface="Public Sans"/>
                <a:sym typeface="Public Sans"/>
              </a:rPr>
              <a:t>2 .</a:t>
            </a:r>
            <a:r>
              <a:rPr lang="en-US" sz="2667">
                <a:solidFill>
                  <a:srgbClr val="000000"/>
                </a:solidFill>
                <a:latin typeface="Public Sans"/>
                <a:ea typeface="Public Sans"/>
                <a:cs typeface="Public Sans"/>
                <a:sym typeface="Public Sans"/>
              </a:rPr>
              <a:t>Ekstraksi Fitur Visual</a:t>
            </a:r>
          </a:p>
          <a:p>
            <a:pPr algn="l">
              <a:lnSpc>
                <a:spcPts val="3467"/>
              </a:lnSpc>
            </a:pPr>
            <a:r>
              <a:rPr lang="en-US" sz="2667">
                <a:solidFill>
                  <a:srgbClr val="000000"/>
                </a:solidFill>
                <a:latin typeface="Public Sans"/>
                <a:ea typeface="Public Sans"/>
                <a:cs typeface="Public Sans"/>
                <a:sym typeface="Public Sans"/>
              </a:rPr>
              <a:t>Mengambil fitur warna dan bentuk sebagai representasi karakteristik sampah.</a:t>
            </a:r>
          </a:p>
          <a:p>
            <a:pPr algn="l">
              <a:lnSpc>
                <a:spcPts val="3467"/>
              </a:lnSpc>
            </a:pPr>
          </a:p>
          <a:p>
            <a:pPr algn="l">
              <a:lnSpc>
                <a:spcPts val="3467"/>
              </a:lnSpc>
            </a:pPr>
            <a:r>
              <a:rPr lang="en-US" sz="2667">
                <a:solidFill>
                  <a:srgbClr val="000000"/>
                </a:solidFill>
                <a:latin typeface="Public Sans"/>
                <a:ea typeface="Public Sans"/>
                <a:cs typeface="Public Sans"/>
                <a:sym typeface="Public Sans"/>
              </a:rPr>
              <a:t>3 .</a:t>
            </a:r>
            <a:r>
              <a:rPr lang="en-US" sz="2667">
                <a:solidFill>
                  <a:srgbClr val="000000"/>
                </a:solidFill>
                <a:latin typeface="Public Sans"/>
                <a:ea typeface="Public Sans"/>
                <a:cs typeface="Public Sans"/>
                <a:sym typeface="Public Sans"/>
              </a:rPr>
              <a:t>Klasifikasi Sampah</a:t>
            </a:r>
          </a:p>
          <a:p>
            <a:pPr algn="l">
              <a:lnSpc>
                <a:spcPts val="3467"/>
              </a:lnSpc>
            </a:pPr>
            <a:r>
              <a:rPr lang="en-US" sz="2667">
                <a:solidFill>
                  <a:srgbClr val="000000"/>
                </a:solidFill>
                <a:latin typeface="Public Sans"/>
                <a:ea typeface="Public Sans"/>
                <a:cs typeface="Public Sans"/>
                <a:sym typeface="Public Sans"/>
              </a:rPr>
              <a:t>Menggunakan algoritma Random Forest untuk menentukan jenis sampah secara otomatis.</a:t>
            </a:r>
          </a:p>
        </p:txBody>
      </p:sp>
      <p:sp>
        <p:nvSpPr>
          <p:cNvPr name="AutoShape 3" id="3"/>
          <p:cNvSpPr/>
          <p:nvPr/>
        </p:nvSpPr>
        <p:spPr>
          <a:xfrm>
            <a:off x="1038225" y="3333018"/>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47730" y="1806747"/>
            <a:ext cx="12808515" cy="1114425"/>
          </a:xfrm>
          <a:prstGeom prst="rect">
            <a:avLst/>
          </a:prstGeom>
        </p:spPr>
        <p:txBody>
          <a:bodyPr anchor="t" rtlCol="false" tIns="0" lIns="0" bIns="0" rIns="0">
            <a:spAutoFit/>
          </a:bodyPr>
          <a:lstStyle/>
          <a:p>
            <a:pPr algn="l" marL="0" indent="0" lvl="0">
              <a:lnSpc>
                <a:spcPts val="8640"/>
              </a:lnSpc>
              <a:spcBef>
                <a:spcPct val="0"/>
              </a:spcBef>
            </a:pPr>
            <a:r>
              <a:rPr lang="en-US" sz="7200">
                <a:solidFill>
                  <a:srgbClr val="000000"/>
                </a:solidFill>
                <a:latin typeface="Helvetica World"/>
                <a:ea typeface="Helvetica World"/>
                <a:cs typeface="Helvetica World"/>
                <a:sym typeface="Helvetica World"/>
              </a:rPr>
              <a:t>Tujuan Penelitian </a:t>
            </a:r>
          </a:p>
        </p:txBody>
      </p:sp>
      <p:grpSp>
        <p:nvGrpSpPr>
          <p:cNvPr name="Group 5" id="5"/>
          <p:cNvGrpSpPr/>
          <p:nvPr/>
        </p:nvGrpSpPr>
        <p:grpSpPr>
          <a:xfrm rot="5400000">
            <a:off x="15155684" y="1920935"/>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24867" y="1920935"/>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42067" y="2238135"/>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876974" y="4109208"/>
            <a:ext cx="8369565" cy="2476326"/>
          </a:xfrm>
          <a:prstGeom prst="rect">
            <a:avLst/>
          </a:prstGeom>
        </p:spPr>
        <p:txBody>
          <a:bodyPr anchor="t" rtlCol="false" tIns="0" lIns="0" bIns="0" rIns="0">
            <a:spAutoFit/>
          </a:bodyPr>
          <a:lstStyle/>
          <a:p>
            <a:pPr algn="l" marL="812588" indent="-406294" lvl="1">
              <a:lnSpc>
                <a:spcPts val="4892"/>
              </a:lnSpc>
              <a:buAutoNum type="arabicPeriod" startAt="1"/>
            </a:pPr>
            <a:r>
              <a:rPr lang="en-US" sz="3763">
                <a:solidFill>
                  <a:srgbClr val="000000"/>
                </a:solidFill>
                <a:latin typeface="Public Sans"/>
                <a:ea typeface="Public Sans"/>
                <a:cs typeface="Public Sans"/>
                <a:sym typeface="Public Sans"/>
              </a:rPr>
              <a:t>Data berupa citra statis</a:t>
            </a:r>
          </a:p>
          <a:p>
            <a:pPr algn="l" marL="812588" indent="-406294" lvl="1">
              <a:lnSpc>
                <a:spcPts val="4892"/>
              </a:lnSpc>
              <a:buAutoNum type="arabicPeriod" startAt="1"/>
            </a:pPr>
            <a:r>
              <a:rPr lang="en-US" sz="3763">
                <a:solidFill>
                  <a:srgbClr val="000000"/>
                </a:solidFill>
                <a:latin typeface="Public Sans"/>
                <a:ea typeface="Public Sans"/>
                <a:cs typeface="Public Sans"/>
                <a:sym typeface="Public Sans"/>
              </a:rPr>
              <a:t>Dua kelas sampah</a:t>
            </a:r>
          </a:p>
          <a:p>
            <a:pPr algn="l" marL="812588" indent="-406294" lvl="1">
              <a:lnSpc>
                <a:spcPts val="4892"/>
              </a:lnSpc>
              <a:buAutoNum type="arabicPeriod" startAt="1"/>
            </a:pPr>
            <a:r>
              <a:rPr lang="en-US" sz="3763">
                <a:solidFill>
                  <a:srgbClr val="000000"/>
                </a:solidFill>
                <a:latin typeface="Public Sans"/>
                <a:ea typeface="Public Sans"/>
                <a:cs typeface="Public Sans"/>
                <a:sym typeface="Public Sans"/>
              </a:rPr>
              <a:t>Dataset terbatas</a:t>
            </a:r>
          </a:p>
          <a:p>
            <a:pPr algn="l" marL="812588" indent="-406294" lvl="1">
              <a:lnSpc>
                <a:spcPts val="4892"/>
              </a:lnSpc>
              <a:spcBef>
                <a:spcPct val="0"/>
              </a:spcBef>
              <a:buAutoNum type="arabicPeriod" startAt="1"/>
            </a:pPr>
            <a:r>
              <a:rPr lang="en-US" sz="3763">
                <a:solidFill>
                  <a:srgbClr val="000000"/>
                </a:solidFill>
                <a:latin typeface="Public Sans"/>
                <a:ea typeface="Public Sans"/>
                <a:cs typeface="Public Sans"/>
                <a:sym typeface="Public Sans"/>
              </a:rPr>
              <a:t>Fokus Random Forest</a:t>
            </a:r>
          </a:p>
        </p:txBody>
      </p:sp>
      <p:sp>
        <p:nvSpPr>
          <p:cNvPr name="AutoShape 3" id="3"/>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38225" y="1427431"/>
            <a:ext cx="12808515" cy="1114425"/>
          </a:xfrm>
          <a:prstGeom prst="rect">
            <a:avLst/>
          </a:prstGeom>
        </p:spPr>
        <p:txBody>
          <a:bodyPr anchor="t" rtlCol="false" tIns="0" lIns="0" bIns="0" rIns="0">
            <a:spAutoFit/>
          </a:bodyPr>
          <a:lstStyle/>
          <a:p>
            <a:pPr algn="l" marL="0" indent="0" lvl="0">
              <a:lnSpc>
                <a:spcPts val="8640"/>
              </a:lnSpc>
              <a:spcBef>
                <a:spcPct val="0"/>
              </a:spcBef>
            </a:pPr>
            <a:r>
              <a:rPr lang="en-US" sz="7200">
                <a:solidFill>
                  <a:srgbClr val="000000"/>
                </a:solidFill>
                <a:latin typeface="Helvetica World"/>
                <a:ea typeface="Helvetica World"/>
                <a:cs typeface="Helvetica World"/>
                <a:sym typeface="Helvetica World"/>
              </a:rPr>
              <a:t>Bata</a:t>
            </a:r>
            <a:r>
              <a:rPr lang="en-US" sz="7200" u="none">
                <a:solidFill>
                  <a:srgbClr val="000000"/>
                </a:solidFill>
                <a:latin typeface="Helvetica World"/>
                <a:ea typeface="Helvetica World"/>
                <a:cs typeface="Helvetica World"/>
                <a:sym typeface="Helvetica World"/>
              </a:rPr>
              <a:t>san Masalah</a:t>
            </a:r>
          </a:p>
        </p:txBody>
      </p:sp>
      <p:grpSp>
        <p:nvGrpSpPr>
          <p:cNvPr name="Group 5" id="5"/>
          <p:cNvGrpSpPr/>
          <p:nvPr/>
        </p:nvGrpSpPr>
        <p:grpSpPr>
          <a:xfrm rot="5400000">
            <a:off x="15146179" y="1541619"/>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15362" y="1541619"/>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1074015" y="3754785"/>
            <a:ext cx="12772725" cy="3753974"/>
          </a:xfrm>
          <a:prstGeom prst="rect">
            <a:avLst/>
          </a:prstGeom>
        </p:spPr>
        <p:txBody>
          <a:bodyPr anchor="t" rtlCol="false" tIns="0" lIns="0" bIns="0" rIns="0">
            <a:spAutoFit/>
          </a:bodyPr>
          <a:lstStyle/>
          <a:p>
            <a:pPr algn="just">
              <a:lnSpc>
                <a:spcPts val="3299"/>
              </a:lnSpc>
            </a:pPr>
            <a:r>
              <a:rPr lang="en-US" sz="2538">
                <a:solidFill>
                  <a:srgbClr val="000000"/>
                </a:solidFill>
                <a:latin typeface="Public Sans"/>
                <a:ea typeface="Public Sans"/>
                <a:cs typeface="Public Sans"/>
                <a:sym typeface="Public Sans"/>
              </a:rPr>
              <a:t>1 .Jumlah Dataset</a:t>
            </a:r>
          </a:p>
          <a:p>
            <a:pPr algn="just">
              <a:lnSpc>
                <a:spcPts val="3299"/>
              </a:lnSpc>
            </a:pPr>
            <a:r>
              <a:rPr lang="en-US" sz="2538">
                <a:solidFill>
                  <a:srgbClr val="000000"/>
                </a:solidFill>
                <a:latin typeface="Public Sans"/>
                <a:ea typeface="Public Sans"/>
                <a:cs typeface="Public Sans"/>
                <a:sym typeface="Public Sans"/>
              </a:rPr>
              <a:t>Total 40 citra, terdiri dari 20 citra sampah organik dan 20 citra sampah anorganik.</a:t>
            </a:r>
          </a:p>
          <a:p>
            <a:pPr algn="just">
              <a:lnSpc>
                <a:spcPts val="3299"/>
              </a:lnSpc>
            </a:pPr>
          </a:p>
          <a:p>
            <a:pPr algn="just">
              <a:lnSpc>
                <a:spcPts val="3299"/>
              </a:lnSpc>
            </a:pPr>
            <a:r>
              <a:rPr lang="en-US" sz="2538">
                <a:solidFill>
                  <a:srgbClr val="000000"/>
                </a:solidFill>
                <a:latin typeface="Public Sans"/>
                <a:ea typeface="Public Sans"/>
                <a:cs typeface="Public Sans"/>
                <a:sym typeface="Public Sans"/>
              </a:rPr>
              <a:t>2 .Sumber Data</a:t>
            </a:r>
          </a:p>
          <a:p>
            <a:pPr algn="just">
              <a:lnSpc>
                <a:spcPts val="3299"/>
              </a:lnSpc>
            </a:pPr>
            <a:r>
              <a:rPr lang="en-US" sz="2538">
                <a:solidFill>
                  <a:srgbClr val="000000"/>
                </a:solidFill>
                <a:latin typeface="Public Sans"/>
                <a:ea typeface="Public Sans"/>
                <a:cs typeface="Public Sans"/>
                <a:sym typeface="Public Sans"/>
              </a:rPr>
              <a:t>Citra diambil langsung dari lingkungan sekitar menggunakan kamera handphone.</a:t>
            </a:r>
          </a:p>
          <a:p>
            <a:pPr algn="just">
              <a:lnSpc>
                <a:spcPts val="3299"/>
              </a:lnSpc>
            </a:pPr>
          </a:p>
          <a:p>
            <a:pPr algn="just">
              <a:lnSpc>
                <a:spcPts val="3299"/>
              </a:lnSpc>
            </a:pPr>
            <a:r>
              <a:rPr lang="en-US" sz="2538">
                <a:solidFill>
                  <a:srgbClr val="000000"/>
                </a:solidFill>
                <a:latin typeface="Public Sans"/>
                <a:ea typeface="Public Sans"/>
                <a:cs typeface="Public Sans"/>
                <a:sym typeface="Public Sans"/>
              </a:rPr>
              <a:t>3 .Variasi Kondisi</a:t>
            </a:r>
          </a:p>
          <a:p>
            <a:pPr algn="just">
              <a:lnSpc>
                <a:spcPts val="3299"/>
              </a:lnSpc>
            </a:pPr>
            <a:r>
              <a:rPr lang="en-US" sz="2538">
                <a:solidFill>
                  <a:srgbClr val="000000"/>
                </a:solidFill>
                <a:latin typeface="Public Sans"/>
                <a:ea typeface="Public Sans"/>
                <a:cs typeface="Public Sans"/>
                <a:sym typeface="Public Sans"/>
              </a:rPr>
              <a:t>Pengambilan dilakukan dengan perbedaan sudut pandang dan pencahayaan untuk mendekati kondisi nyata</a:t>
            </a:r>
          </a:p>
        </p:txBody>
      </p:sp>
      <p:sp>
        <p:nvSpPr>
          <p:cNvPr name="AutoShape 3" id="3"/>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38225" y="1427431"/>
            <a:ext cx="12808515" cy="1114425"/>
          </a:xfrm>
          <a:prstGeom prst="rect">
            <a:avLst/>
          </a:prstGeom>
        </p:spPr>
        <p:txBody>
          <a:bodyPr anchor="t" rtlCol="false" tIns="0" lIns="0" bIns="0" rIns="0">
            <a:spAutoFit/>
          </a:bodyPr>
          <a:lstStyle/>
          <a:p>
            <a:pPr algn="l" marL="0" indent="0" lvl="0">
              <a:lnSpc>
                <a:spcPts val="8640"/>
              </a:lnSpc>
              <a:spcBef>
                <a:spcPct val="0"/>
              </a:spcBef>
            </a:pPr>
            <a:r>
              <a:rPr lang="en-US" sz="7200">
                <a:solidFill>
                  <a:srgbClr val="000000"/>
                </a:solidFill>
                <a:latin typeface="Helvetica World"/>
                <a:ea typeface="Helvetica World"/>
                <a:cs typeface="Helvetica World"/>
                <a:sym typeface="Helvetica World"/>
              </a:rPr>
              <a:t>Data</a:t>
            </a:r>
            <a:r>
              <a:rPr lang="en-US" sz="7200" u="none">
                <a:solidFill>
                  <a:srgbClr val="000000"/>
                </a:solidFill>
                <a:latin typeface="Helvetica World"/>
                <a:ea typeface="Helvetica World"/>
                <a:cs typeface="Helvetica World"/>
                <a:sym typeface="Helvetica World"/>
              </a:rPr>
              <a:t>set &amp; Akuisisi Data</a:t>
            </a:r>
          </a:p>
        </p:txBody>
      </p:sp>
      <p:grpSp>
        <p:nvGrpSpPr>
          <p:cNvPr name="Group 5" id="5"/>
          <p:cNvGrpSpPr/>
          <p:nvPr/>
        </p:nvGrpSpPr>
        <p:grpSpPr>
          <a:xfrm rot="5400000">
            <a:off x="15146179" y="1541619"/>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15362" y="1541619"/>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3" id="3"/>
          <p:cNvSpPr txBox="true"/>
          <p:nvPr/>
        </p:nvSpPr>
        <p:spPr>
          <a:xfrm rot="0">
            <a:off x="1028700" y="1686877"/>
            <a:ext cx="14647308" cy="933450"/>
          </a:xfrm>
          <a:prstGeom prst="rect">
            <a:avLst/>
          </a:prstGeom>
        </p:spPr>
        <p:txBody>
          <a:bodyPr anchor="t" rtlCol="false" tIns="0" lIns="0" bIns="0" rIns="0">
            <a:spAutoFit/>
          </a:bodyPr>
          <a:lstStyle/>
          <a:p>
            <a:pPr algn="l" marL="0" indent="0" lvl="0">
              <a:lnSpc>
                <a:spcPts val="7320"/>
              </a:lnSpc>
              <a:spcBef>
                <a:spcPct val="0"/>
              </a:spcBef>
            </a:pPr>
            <a:r>
              <a:rPr lang="en-US" sz="6100">
                <a:solidFill>
                  <a:srgbClr val="000000"/>
                </a:solidFill>
                <a:latin typeface="Helvetica World"/>
                <a:ea typeface="Helvetica World"/>
                <a:cs typeface="Helvetica World"/>
                <a:sym typeface="Helvetica World"/>
              </a:rPr>
              <a:t>Alur</a:t>
            </a:r>
            <a:r>
              <a:rPr lang="en-US" sz="6100" u="none">
                <a:solidFill>
                  <a:srgbClr val="000000"/>
                </a:solidFill>
                <a:latin typeface="Helvetica World"/>
                <a:ea typeface="Helvetica World"/>
                <a:cs typeface="Helvetica World"/>
                <a:sym typeface="Helvetica World"/>
              </a:rPr>
              <a:t> Akuisisi Data Pengambilan citra</a:t>
            </a:r>
          </a:p>
        </p:txBody>
      </p:sp>
      <p:grpSp>
        <p:nvGrpSpPr>
          <p:cNvPr name="Group 4" id="4"/>
          <p:cNvGrpSpPr/>
          <p:nvPr/>
        </p:nvGrpSpPr>
        <p:grpSpPr>
          <a:xfrm rot="5400000">
            <a:off x="15146179" y="1541619"/>
            <a:ext cx="1078708" cy="107870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6" id="6"/>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7" id="7"/>
          <p:cNvGrpSpPr/>
          <p:nvPr/>
        </p:nvGrpSpPr>
        <p:grpSpPr>
          <a:xfrm rot="5400000">
            <a:off x="16215362" y="1541619"/>
            <a:ext cx="1078708" cy="107870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9" id="9"/>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0" id="10"/>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6700159" y="3923190"/>
            <a:ext cx="8446020" cy="5242357"/>
          </a:xfrm>
          <a:custGeom>
            <a:avLst/>
            <a:gdLst/>
            <a:ahLst/>
            <a:cxnLst/>
            <a:rect r="r" b="b" t="t" l="l"/>
            <a:pathLst>
              <a:path h="5242357" w="8446020">
                <a:moveTo>
                  <a:pt x="0" y="0"/>
                </a:moveTo>
                <a:lnTo>
                  <a:pt x="8446020" y="0"/>
                </a:lnTo>
                <a:lnTo>
                  <a:pt x="8446020" y="5242357"/>
                </a:lnTo>
                <a:lnTo>
                  <a:pt x="0" y="5242357"/>
                </a:lnTo>
                <a:lnTo>
                  <a:pt x="0" y="0"/>
                </a:lnTo>
                <a:close/>
              </a:path>
            </a:pathLst>
          </a:custGeom>
          <a:blipFill>
            <a:blip r:embed="rId4"/>
            <a:stretch>
              <a:fillRect l="0" t="0" r="0" b="0"/>
            </a:stretch>
          </a:blipFill>
        </p:spPr>
      </p:sp>
      <p:sp>
        <p:nvSpPr>
          <p:cNvPr name="TextBox 12" id="12"/>
          <p:cNvSpPr txBox="true"/>
          <p:nvPr/>
        </p:nvSpPr>
        <p:spPr>
          <a:xfrm rot="0">
            <a:off x="1028700" y="3894615"/>
            <a:ext cx="12772725" cy="1666400"/>
          </a:xfrm>
          <a:prstGeom prst="rect">
            <a:avLst/>
          </a:prstGeom>
        </p:spPr>
        <p:txBody>
          <a:bodyPr anchor="t" rtlCol="false" tIns="0" lIns="0" bIns="0" rIns="0">
            <a:spAutoFit/>
          </a:bodyPr>
          <a:lstStyle/>
          <a:p>
            <a:pPr algn="just">
              <a:lnSpc>
                <a:spcPts val="3299"/>
              </a:lnSpc>
            </a:pPr>
            <a:r>
              <a:rPr lang="en-US" sz="2538">
                <a:solidFill>
                  <a:srgbClr val="000000"/>
                </a:solidFill>
                <a:latin typeface="Public Sans"/>
                <a:ea typeface="Public Sans"/>
                <a:cs typeface="Public Sans"/>
                <a:sym typeface="Public Sans"/>
              </a:rPr>
              <a:t>1 .Pelabelan data</a:t>
            </a:r>
          </a:p>
          <a:p>
            <a:pPr algn="just">
              <a:lnSpc>
                <a:spcPts val="3299"/>
              </a:lnSpc>
            </a:pPr>
          </a:p>
          <a:p>
            <a:pPr algn="just">
              <a:lnSpc>
                <a:spcPts val="3299"/>
              </a:lnSpc>
            </a:pPr>
            <a:r>
              <a:rPr lang="en-US" sz="2538">
                <a:solidFill>
                  <a:srgbClr val="000000"/>
                </a:solidFill>
                <a:latin typeface="Public Sans"/>
                <a:ea typeface="Public Sans"/>
                <a:cs typeface="Public Sans"/>
                <a:sym typeface="Public Sans"/>
              </a:rPr>
              <a:t>2 .Pembagian data latih &amp; uji</a:t>
            </a:r>
          </a:p>
          <a:p>
            <a:pPr algn="just">
              <a:lnSpc>
                <a:spcPts val="32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1382972" y="3763651"/>
            <a:ext cx="16240914" cy="2712073"/>
          </a:xfrm>
          <a:prstGeom prst="rect">
            <a:avLst/>
          </a:prstGeom>
        </p:spPr>
        <p:txBody>
          <a:bodyPr anchor="t" rtlCol="false" tIns="0" lIns="0" bIns="0" rIns="0">
            <a:spAutoFit/>
          </a:bodyPr>
          <a:lstStyle/>
          <a:p>
            <a:pPr algn="l" marL="716260" indent="-358130" lvl="1">
              <a:lnSpc>
                <a:spcPts val="4312"/>
              </a:lnSpc>
              <a:buFont typeface="Arial"/>
              <a:buChar char="•"/>
            </a:pPr>
            <a:r>
              <a:rPr lang="en-US" sz="3317">
                <a:solidFill>
                  <a:srgbClr val="000000"/>
                </a:solidFill>
                <a:latin typeface="Public Sans"/>
                <a:ea typeface="Public Sans"/>
                <a:cs typeface="Public Sans"/>
                <a:sym typeface="Public Sans"/>
              </a:rPr>
              <a:t>Pengolahan citra digital</a:t>
            </a:r>
          </a:p>
          <a:p>
            <a:pPr algn="l" marL="716260" indent="-358130" lvl="1">
              <a:lnSpc>
                <a:spcPts val="4312"/>
              </a:lnSpc>
              <a:buFont typeface="Arial"/>
              <a:buChar char="•"/>
            </a:pPr>
            <a:r>
              <a:rPr lang="en-US" sz="3317">
                <a:solidFill>
                  <a:srgbClr val="000000"/>
                </a:solidFill>
                <a:latin typeface="Public Sans"/>
                <a:ea typeface="Public Sans"/>
                <a:cs typeface="Public Sans"/>
                <a:sym typeface="Public Sans"/>
              </a:rPr>
              <a:t>Sampling &amp; kuantisasi</a:t>
            </a:r>
          </a:p>
          <a:p>
            <a:pPr algn="l" marL="716260" indent="-358130" lvl="1">
              <a:lnSpc>
                <a:spcPts val="4312"/>
              </a:lnSpc>
              <a:buFont typeface="Arial"/>
              <a:buChar char="•"/>
            </a:pPr>
            <a:r>
              <a:rPr lang="en-US" sz="3317">
                <a:solidFill>
                  <a:srgbClr val="000000"/>
                </a:solidFill>
                <a:latin typeface="Public Sans"/>
                <a:ea typeface="Public Sans"/>
                <a:cs typeface="Public Sans"/>
                <a:sym typeface="Public Sans"/>
              </a:rPr>
              <a:t>H</a:t>
            </a:r>
            <a:r>
              <a:rPr lang="en-US" sz="3317">
                <a:solidFill>
                  <a:srgbClr val="000000"/>
                </a:solidFill>
                <a:latin typeface="Public Sans"/>
                <a:ea typeface="Public Sans"/>
                <a:cs typeface="Public Sans"/>
                <a:sym typeface="Public Sans"/>
              </a:rPr>
              <a:t>istogram &amp; enhancement</a:t>
            </a:r>
          </a:p>
          <a:p>
            <a:pPr algn="l" marL="716260" indent="-358130" lvl="1">
              <a:lnSpc>
                <a:spcPts val="4312"/>
              </a:lnSpc>
              <a:buFont typeface="Arial"/>
              <a:buChar char="•"/>
            </a:pPr>
            <a:r>
              <a:rPr lang="en-US" sz="3317">
                <a:solidFill>
                  <a:srgbClr val="000000"/>
                </a:solidFill>
                <a:latin typeface="Public Sans"/>
                <a:ea typeface="Public Sans"/>
                <a:cs typeface="Public Sans"/>
                <a:sym typeface="Public Sans"/>
              </a:rPr>
              <a:t>F</a:t>
            </a:r>
            <a:r>
              <a:rPr lang="en-US" sz="3317">
                <a:solidFill>
                  <a:srgbClr val="000000"/>
                </a:solidFill>
                <a:latin typeface="Public Sans"/>
                <a:ea typeface="Public Sans"/>
                <a:cs typeface="Public Sans"/>
                <a:sym typeface="Public Sans"/>
              </a:rPr>
              <a:t>iltering &amp; deteksi tepi</a:t>
            </a:r>
          </a:p>
          <a:p>
            <a:pPr algn="l" marL="716260" indent="-358130" lvl="1">
              <a:lnSpc>
                <a:spcPts val="4312"/>
              </a:lnSpc>
              <a:buFont typeface="Arial"/>
              <a:buChar char="•"/>
            </a:pPr>
            <a:r>
              <a:rPr lang="en-US" sz="3317">
                <a:solidFill>
                  <a:srgbClr val="000000"/>
                </a:solidFill>
                <a:latin typeface="Public Sans"/>
                <a:ea typeface="Public Sans"/>
                <a:cs typeface="Public Sans"/>
                <a:sym typeface="Public Sans"/>
              </a:rPr>
              <a:t>Random Forest</a:t>
            </a:r>
          </a:p>
        </p:txBody>
      </p:sp>
      <p:sp>
        <p:nvSpPr>
          <p:cNvPr name="AutoShape 3" id="3"/>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Landasan Teori</a:t>
            </a:r>
          </a:p>
        </p:txBody>
      </p:sp>
      <p:grpSp>
        <p:nvGrpSpPr>
          <p:cNvPr name="Group 5" id="5"/>
          <p:cNvGrpSpPr/>
          <p:nvPr/>
        </p:nvGrpSpPr>
        <p:grpSpPr>
          <a:xfrm rot="5400000">
            <a:off x="15146179" y="1541619"/>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15362" y="1541619"/>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35" y="1982654"/>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11394" y="677605"/>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180577" y="677605"/>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497777" y="994805"/>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4129856" y="4846498"/>
            <a:ext cx="10292910" cy="4747605"/>
          </a:xfrm>
          <a:custGeom>
            <a:avLst/>
            <a:gdLst/>
            <a:ahLst/>
            <a:cxnLst/>
            <a:rect r="r" b="b" t="t" l="l"/>
            <a:pathLst>
              <a:path h="4747605" w="10292910">
                <a:moveTo>
                  <a:pt x="0" y="0"/>
                </a:moveTo>
                <a:lnTo>
                  <a:pt x="10292910" y="0"/>
                </a:lnTo>
                <a:lnTo>
                  <a:pt x="10292910" y="4747605"/>
                </a:lnTo>
                <a:lnTo>
                  <a:pt x="0" y="4747605"/>
                </a:lnTo>
                <a:lnTo>
                  <a:pt x="0" y="0"/>
                </a:lnTo>
                <a:close/>
              </a:path>
            </a:pathLst>
          </a:custGeom>
          <a:blipFill>
            <a:blip r:embed="rId4"/>
            <a:stretch>
              <a:fillRect l="0" t="0" r="0" b="0"/>
            </a:stretch>
          </a:blipFill>
        </p:spPr>
      </p:sp>
      <p:sp>
        <p:nvSpPr>
          <p:cNvPr name="TextBox 11" id="11"/>
          <p:cNvSpPr txBox="true"/>
          <p:nvPr/>
        </p:nvSpPr>
        <p:spPr>
          <a:xfrm rot="0">
            <a:off x="1028735" y="2145725"/>
            <a:ext cx="15469043" cy="2257305"/>
          </a:xfrm>
          <a:prstGeom prst="rect">
            <a:avLst/>
          </a:prstGeom>
        </p:spPr>
        <p:txBody>
          <a:bodyPr anchor="t" rtlCol="false" tIns="0" lIns="0" bIns="0" rIns="0">
            <a:spAutoFit/>
          </a:bodyPr>
          <a:lstStyle/>
          <a:p>
            <a:pPr algn="l">
              <a:lnSpc>
                <a:spcPts val="3031"/>
              </a:lnSpc>
            </a:pPr>
            <a:r>
              <a:rPr lang="en-US" sz="2331">
                <a:solidFill>
                  <a:srgbClr val="000000"/>
                </a:solidFill>
                <a:latin typeface="Public Sans"/>
                <a:ea typeface="Public Sans"/>
                <a:cs typeface="Public Sans"/>
                <a:sym typeface="Public Sans"/>
              </a:rPr>
              <a:t>1 .Input Sistem</a:t>
            </a:r>
          </a:p>
          <a:p>
            <a:pPr algn="l">
              <a:lnSpc>
                <a:spcPts val="3031"/>
              </a:lnSpc>
            </a:pPr>
            <a:r>
              <a:rPr lang="en-US" sz="2331">
                <a:solidFill>
                  <a:srgbClr val="000000"/>
                </a:solidFill>
                <a:latin typeface="Public Sans"/>
                <a:ea typeface="Public Sans"/>
                <a:cs typeface="Public Sans"/>
                <a:sym typeface="Public Sans"/>
              </a:rPr>
              <a:t>    </a:t>
            </a:r>
            <a:r>
              <a:rPr lang="en-US" sz="2331">
                <a:solidFill>
                  <a:srgbClr val="000000"/>
                </a:solidFill>
                <a:latin typeface="Public Sans"/>
                <a:ea typeface="Public Sans"/>
                <a:cs typeface="Public Sans"/>
                <a:sym typeface="Public Sans"/>
              </a:rPr>
              <a:t>Sistem m</a:t>
            </a:r>
            <a:r>
              <a:rPr lang="en-US" sz="2331">
                <a:solidFill>
                  <a:srgbClr val="000000"/>
                </a:solidFill>
                <a:latin typeface="Public Sans"/>
                <a:ea typeface="Public Sans"/>
                <a:cs typeface="Public Sans"/>
                <a:sym typeface="Public Sans"/>
              </a:rPr>
              <a:t>enerima citra sampah sebagai data masukan.</a:t>
            </a:r>
          </a:p>
          <a:p>
            <a:pPr algn="l">
              <a:lnSpc>
                <a:spcPts val="3031"/>
              </a:lnSpc>
            </a:pPr>
            <a:r>
              <a:rPr lang="en-US" sz="2331">
                <a:solidFill>
                  <a:srgbClr val="000000"/>
                </a:solidFill>
                <a:latin typeface="Public Sans"/>
                <a:ea typeface="Public Sans"/>
                <a:cs typeface="Public Sans"/>
                <a:sym typeface="Public Sans"/>
              </a:rPr>
              <a:t>2 .Proses</a:t>
            </a:r>
          </a:p>
          <a:p>
            <a:pPr algn="l">
              <a:lnSpc>
                <a:spcPts val="3031"/>
              </a:lnSpc>
            </a:pPr>
            <a:r>
              <a:rPr lang="en-US" sz="2331">
                <a:solidFill>
                  <a:srgbClr val="000000"/>
                </a:solidFill>
                <a:latin typeface="Public Sans"/>
                <a:ea typeface="Public Sans"/>
                <a:cs typeface="Public Sans"/>
                <a:sym typeface="Public Sans"/>
              </a:rPr>
              <a:t>    Citra diproses melalui tahapan pengolahan citra digital secara berurutan.</a:t>
            </a:r>
          </a:p>
          <a:p>
            <a:pPr algn="l">
              <a:lnSpc>
                <a:spcPts val="3031"/>
              </a:lnSpc>
            </a:pPr>
            <a:r>
              <a:rPr lang="en-US" sz="2331">
                <a:solidFill>
                  <a:srgbClr val="000000"/>
                </a:solidFill>
                <a:latin typeface="Public Sans"/>
                <a:ea typeface="Public Sans"/>
                <a:cs typeface="Public Sans"/>
                <a:sym typeface="Public Sans"/>
              </a:rPr>
              <a:t>3 .Output</a:t>
            </a:r>
          </a:p>
          <a:p>
            <a:pPr algn="l">
              <a:lnSpc>
                <a:spcPts val="3031"/>
              </a:lnSpc>
            </a:pPr>
            <a:r>
              <a:rPr lang="en-US" sz="2331">
                <a:solidFill>
                  <a:srgbClr val="000000"/>
                </a:solidFill>
                <a:latin typeface="Public Sans"/>
                <a:ea typeface="Public Sans"/>
                <a:cs typeface="Public Sans"/>
                <a:sym typeface="Public Sans"/>
              </a:rPr>
              <a:t>     Sistem menghasilkan label jenis sampah, yaitu organik atau anorganik.</a:t>
            </a:r>
          </a:p>
        </p:txBody>
      </p:sp>
      <p:sp>
        <p:nvSpPr>
          <p:cNvPr name="TextBox 12" id="12"/>
          <p:cNvSpPr txBox="true"/>
          <p:nvPr/>
        </p:nvSpPr>
        <p:spPr>
          <a:xfrm rot="0">
            <a:off x="1003441" y="754407"/>
            <a:ext cx="10797975" cy="1846870"/>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Metodologi Sistem </a:t>
            </a:r>
          </a:p>
          <a:p>
            <a:pPr algn="l">
              <a:lnSpc>
                <a:spcPts val="7283"/>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136728" y="3292040"/>
            <a:ext cx="14548805" cy="6163396"/>
          </a:xfrm>
          <a:prstGeom prst="rect">
            <a:avLst/>
          </a:prstGeom>
        </p:spPr>
        <p:txBody>
          <a:bodyPr anchor="t" rtlCol="false" tIns="0" lIns="0" bIns="0" rIns="0">
            <a:spAutoFit/>
          </a:bodyPr>
          <a:lstStyle/>
          <a:p>
            <a:pPr algn="just">
              <a:lnSpc>
                <a:spcPts val="2851"/>
              </a:lnSpc>
            </a:pPr>
            <a:r>
              <a:rPr lang="en-US" sz="2193">
                <a:solidFill>
                  <a:srgbClr val="000000"/>
                </a:solidFill>
                <a:latin typeface="Public Sans"/>
                <a:ea typeface="Public Sans"/>
                <a:cs typeface="Public Sans"/>
                <a:sym typeface="Public Sans"/>
              </a:rPr>
              <a:t>1. Akuis</a:t>
            </a:r>
            <a:r>
              <a:rPr lang="en-US" sz="2193">
                <a:solidFill>
                  <a:srgbClr val="000000"/>
                </a:solidFill>
                <a:latin typeface="Public Sans"/>
                <a:ea typeface="Public Sans"/>
                <a:cs typeface="Public Sans"/>
                <a:sym typeface="Public Sans"/>
              </a:rPr>
              <a:t>isi Citra</a:t>
            </a:r>
          </a:p>
          <a:p>
            <a:pPr algn="just">
              <a:lnSpc>
                <a:spcPts val="2851"/>
              </a:lnSpc>
            </a:pPr>
            <a:r>
              <a:rPr lang="en-US" sz="2193">
                <a:solidFill>
                  <a:srgbClr val="000000"/>
                </a:solidFill>
                <a:latin typeface="Public Sans"/>
                <a:ea typeface="Public Sans"/>
                <a:cs typeface="Public Sans"/>
                <a:sym typeface="Public Sans"/>
              </a:rPr>
              <a:t>Tahap awal berupa p</a:t>
            </a:r>
            <a:r>
              <a:rPr lang="en-US" sz="2193">
                <a:solidFill>
                  <a:srgbClr val="000000"/>
                </a:solidFill>
                <a:latin typeface="Public Sans"/>
                <a:ea typeface="Public Sans"/>
                <a:cs typeface="Public Sans"/>
                <a:sym typeface="Public Sans"/>
              </a:rPr>
              <a:t>engambilan citra sampah secara langsung menggunakan kamera handphone. Pengambilan dilakukan dengan variasi sudut dan pencahayaan untuk merepresentasikan kondisi nyata.</a:t>
            </a:r>
          </a:p>
          <a:p>
            <a:pPr algn="just">
              <a:lnSpc>
                <a:spcPts val="2851"/>
              </a:lnSpc>
            </a:pPr>
          </a:p>
          <a:p>
            <a:pPr algn="just">
              <a:lnSpc>
                <a:spcPts val="2851"/>
              </a:lnSpc>
            </a:pPr>
            <a:r>
              <a:rPr lang="en-US" sz="2193">
                <a:solidFill>
                  <a:srgbClr val="000000"/>
                </a:solidFill>
                <a:latin typeface="Public Sans"/>
                <a:ea typeface="Public Sans"/>
                <a:cs typeface="Public Sans"/>
                <a:sym typeface="Public Sans"/>
              </a:rPr>
              <a:t>2. Sampling &amp; Kuantisasi</a:t>
            </a:r>
          </a:p>
          <a:p>
            <a:pPr algn="just">
              <a:lnSpc>
                <a:spcPts val="2851"/>
              </a:lnSpc>
            </a:pPr>
            <a:r>
              <a:rPr lang="en-US" sz="2193">
                <a:solidFill>
                  <a:srgbClr val="000000"/>
                </a:solidFill>
                <a:latin typeface="Public Sans"/>
                <a:ea typeface="Public Sans"/>
                <a:cs typeface="Public Sans"/>
                <a:sym typeface="Public Sans"/>
              </a:rPr>
              <a:t>Citra yang diperoleh diubah dari bentuk kontinu menjadi citra digital diskrit. Proses ini bertujuan menyeragamkan resolusi dan tingkat intensitas piksel agar mudah diproses lebih lanjut.</a:t>
            </a:r>
          </a:p>
          <a:p>
            <a:pPr algn="just">
              <a:lnSpc>
                <a:spcPts val="2851"/>
              </a:lnSpc>
            </a:pPr>
          </a:p>
          <a:p>
            <a:pPr algn="just">
              <a:lnSpc>
                <a:spcPts val="2851"/>
              </a:lnSpc>
            </a:pPr>
            <a:r>
              <a:rPr lang="en-US" sz="2193">
                <a:solidFill>
                  <a:srgbClr val="000000"/>
                </a:solidFill>
                <a:latin typeface="Public Sans"/>
                <a:ea typeface="Public Sans"/>
                <a:cs typeface="Public Sans"/>
                <a:sym typeface="Public Sans"/>
              </a:rPr>
              <a:t>3. Histogram &amp; Image Enhancement</a:t>
            </a:r>
          </a:p>
          <a:p>
            <a:pPr algn="just">
              <a:lnSpc>
                <a:spcPts val="2851"/>
              </a:lnSpc>
            </a:pPr>
            <a:r>
              <a:rPr lang="en-US" sz="2193">
                <a:solidFill>
                  <a:srgbClr val="000000"/>
                </a:solidFill>
                <a:latin typeface="Public Sans"/>
                <a:ea typeface="Public Sans"/>
                <a:cs typeface="Public Sans"/>
                <a:sym typeface="Public Sans"/>
              </a:rPr>
              <a:t>Histogram citra dianalisis untuk melihat distribusi intensitas piksel. Selanjutnya dilakukan histogram equalization untuk meningkatkan kontras sehingga detail objek sampah lebih jelas.</a:t>
            </a:r>
          </a:p>
          <a:p>
            <a:pPr algn="just">
              <a:lnSpc>
                <a:spcPts val="2851"/>
              </a:lnSpc>
            </a:pPr>
          </a:p>
          <a:p>
            <a:pPr algn="just">
              <a:lnSpc>
                <a:spcPts val="2851"/>
              </a:lnSpc>
            </a:pPr>
            <a:r>
              <a:rPr lang="en-US" sz="2193">
                <a:solidFill>
                  <a:srgbClr val="000000"/>
                </a:solidFill>
                <a:latin typeface="Public Sans"/>
                <a:ea typeface="Public Sans"/>
                <a:cs typeface="Public Sans"/>
                <a:sym typeface="Public Sans"/>
              </a:rPr>
              <a:t>4. Filtering (Restorasi Citra)</a:t>
            </a:r>
          </a:p>
          <a:p>
            <a:pPr algn="just">
              <a:lnSpc>
                <a:spcPts val="2851"/>
              </a:lnSpc>
            </a:pPr>
            <a:r>
              <a:rPr lang="en-US" sz="2193">
                <a:solidFill>
                  <a:srgbClr val="000000"/>
                </a:solidFill>
                <a:latin typeface="Public Sans"/>
                <a:ea typeface="Public Sans"/>
                <a:cs typeface="Public Sans"/>
                <a:sym typeface="Public Sans"/>
              </a:rPr>
              <a:t>Tahap ini bertujuan mengurangi noise akibat pencahayaan atau kualitas kamera. Filter seperti Gaussian atau median digunakan agar citra lebih bersih tanpa menghilangkan detail penting.</a:t>
            </a:r>
          </a:p>
          <a:p>
            <a:pPr algn="just">
              <a:lnSpc>
                <a:spcPts val="2851"/>
              </a:lnSpc>
            </a:pPr>
          </a:p>
          <a:p>
            <a:pPr algn="just">
              <a:lnSpc>
                <a:spcPts val="2851"/>
              </a:lnSpc>
            </a:pPr>
          </a:p>
        </p:txBody>
      </p:sp>
      <p:sp>
        <p:nvSpPr>
          <p:cNvPr name="TextBox 11" id="11"/>
          <p:cNvSpPr txBox="true"/>
          <p:nvPr/>
        </p:nvSpPr>
        <p:spPr>
          <a:xfrm rot="0">
            <a:off x="1038225" y="1618421"/>
            <a:ext cx="10797975" cy="1846870"/>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Metodologi Sistem </a:t>
            </a:r>
          </a:p>
          <a:p>
            <a:pPr algn="l">
              <a:lnSpc>
                <a:spcPts val="7283"/>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28720" y="3554181"/>
            <a:ext cx="14548805" cy="4353646"/>
          </a:xfrm>
          <a:prstGeom prst="rect">
            <a:avLst/>
          </a:prstGeom>
        </p:spPr>
        <p:txBody>
          <a:bodyPr anchor="t" rtlCol="false" tIns="0" lIns="0" bIns="0" rIns="0">
            <a:spAutoFit/>
          </a:bodyPr>
          <a:lstStyle/>
          <a:p>
            <a:pPr algn="just">
              <a:lnSpc>
                <a:spcPts val="2851"/>
              </a:lnSpc>
            </a:pPr>
            <a:r>
              <a:rPr lang="en-US" sz="2193">
                <a:solidFill>
                  <a:srgbClr val="000000"/>
                </a:solidFill>
                <a:latin typeface="Public Sans"/>
                <a:ea typeface="Public Sans"/>
                <a:cs typeface="Public Sans"/>
                <a:sym typeface="Public Sans"/>
              </a:rPr>
              <a:t>5. Detek</a:t>
            </a:r>
            <a:r>
              <a:rPr lang="en-US" sz="2193">
                <a:solidFill>
                  <a:srgbClr val="000000"/>
                </a:solidFill>
                <a:latin typeface="Public Sans"/>
                <a:ea typeface="Public Sans"/>
                <a:cs typeface="Public Sans"/>
                <a:sym typeface="Public Sans"/>
              </a:rPr>
              <a:t>si Tepi &amp; Op</a:t>
            </a:r>
            <a:r>
              <a:rPr lang="en-US" sz="2193">
                <a:solidFill>
                  <a:srgbClr val="000000"/>
                </a:solidFill>
                <a:latin typeface="Public Sans"/>
                <a:ea typeface="Public Sans"/>
                <a:cs typeface="Public Sans"/>
                <a:sym typeface="Public Sans"/>
              </a:rPr>
              <a:t>erasi Morfologi</a:t>
            </a:r>
          </a:p>
          <a:p>
            <a:pPr algn="just">
              <a:lnSpc>
                <a:spcPts val="2851"/>
              </a:lnSpc>
            </a:pPr>
            <a:r>
              <a:rPr lang="en-US" sz="2193">
                <a:solidFill>
                  <a:srgbClr val="000000"/>
                </a:solidFill>
                <a:latin typeface="Public Sans"/>
                <a:ea typeface="Public Sans"/>
                <a:cs typeface="Public Sans"/>
                <a:sym typeface="Public Sans"/>
              </a:rPr>
              <a:t>Deteksi tepi digunakan untuk menonjolkan batas objek sampah. Operasi morfologi seperti erosi dan dilasi membantu memperbaiki bentuk objek dan mengurangi gangguan kecil.</a:t>
            </a:r>
          </a:p>
          <a:p>
            <a:pPr algn="just">
              <a:lnSpc>
                <a:spcPts val="2851"/>
              </a:lnSpc>
            </a:pPr>
          </a:p>
          <a:p>
            <a:pPr algn="just">
              <a:lnSpc>
                <a:spcPts val="2851"/>
              </a:lnSpc>
            </a:pPr>
            <a:r>
              <a:rPr lang="en-US" sz="2193">
                <a:solidFill>
                  <a:srgbClr val="000000"/>
                </a:solidFill>
                <a:latin typeface="Public Sans"/>
                <a:ea typeface="Public Sans"/>
                <a:cs typeface="Public Sans"/>
                <a:sym typeface="Public Sans"/>
              </a:rPr>
              <a:t>6. Ekstraksi Fitur</a:t>
            </a:r>
          </a:p>
          <a:p>
            <a:pPr algn="just">
              <a:lnSpc>
                <a:spcPts val="2851"/>
              </a:lnSpc>
            </a:pPr>
            <a:r>
              <a:rPr lang="en-US" sz="2193">
                <a:solidFill>
                  <a:srgbClr val="000000"/>
                </a:solidFill>
                <a:latin typeface="Public Sans"/>
                <a:ea typeface="Public Sans"/>
                <a:cs typeface="Public Sans"/>
                <a:sym typeface="Public Sans"/>
              </a:rPr>
              <a:t>Dari citra yang telah diproses, diambil fitur visual penting seperti warna (model HSV) dan bentuk geometris. Fitur ini direpresentasikan dalam bentuk data numerik.</a:t>
            </a:r>
          </a:p>
          <a:p>
            <a:pPr algn="just">
              <a:lnSpc>
                <a:spcPts val="2851"/>
              </a:lnSpc>
            </a:pPr>
          </a:p>
          <a:p>
            <a:pPr algn="just">
              <a:lnSpc>
                <a:spcPts val="2851"/>
              </a:lnSpc>
            </a:pPr>
            <a:r>
              <a:rPr lang="en-US" sz="2193">
                <a:solidFill>
                  <a:srgbClr val="000000"/>
                </a:solidFill>
                <a:latin typeface="Public Sans"/>
                <a:ea typeface="Public Sans"/>
                <a:cs typeface="Public Sans"/>
                <a:sym typeface="Public Sans"/>
              </a:rPr>
              <a:t>7. Klasifikasi Random Forest</a:t>
            </a:r>
          </a:p>
          <a:p>
            <a:pPr algn="just">
              <a:lnSpc>
                <a:spcPts val="2851"/>
              </a:lnSpc>
            </a:pPr>
            <a:r>
              <a:rPr lang="en-US" sz="2193">
                <a:solidFill>
                  <a:srgbClr val="000000"/>
                </a:solidFill>
                <a:latin typeface="Public Sans"/>
                <a:ea typeface="Public Sans"/>
                <a:cs typeface="Public Sans"/>
                <a:sym typeface="Public Sans"/>
              </a:rPr>
              <a:t>Fitur hasil ekstraksi digunakan sebagai masukan ke algoritma Random Forest untuk menentukan jenis sampah, apakah termasuk organik atau anorganik.</a:t>
            </a:r>
          </a:p>
          <a:p>
            <a:pPr algn="just">
              <a:lnSpc>
                <a:spcPts val="2851"/>
              </a:lnSpc>
            </a:pPr>
          </a:p>
        </p:txBody>
      </p:sp>
      <p:sp>
        <p:nvSpPr>
          <p:cNvPr name="TextBox 11" id="11"/>
          <p:cNvSpPr txBox="true"/>
          <p:nvPr/>
        </p:nvSpPr>
        <p:spPr>
          <a:xfrm rot="0">
            <a:off x="1038225" y="1618421"/>
            <a:ext cx="10797975" cy="1846870"/>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Metodologi Sistem </a:t>
            </a:r>
          </a:p>
          <a:p>
            <a:pPr algn="l">
              <a:lnSpc>
                <a:spcPts val="7283"/>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97275" y="3577836"/>
            <a:ext cx="7327244" cy="4680277"/>
          </a:xfrm>
          <a:custGeom>
            <a:avLst/>
            <a:gdLst/>
            <a:ahLst/>
            <a:cxnLst/>
            <a:rect r="r" b="b" t="t" l="l"/>
            <a:pathLst>
              <a:path h="4680277" w="7327244">
                <a:moveTo>
                  <a:pt x="0" y="0"/>
                </a:moveTo>
                <a:lnTo>
                  <a:pt x="7327244" y="0"/>
                </a:lnTo>
                <a:lnTo>
                  <a:pt x="7327244" y="4680277"/>
                </a:lnTo>
                <a:lnTo>
                  <a:pt x="0" y="4680277"/>
                </a:lnTo>
                <a:lnTo>
                  <a:pt x="0" y="0"/>
                </a:lnTo>
                <a:close/>
              </a:path>
            </a:pathLst>
          </a:custGeom>
          <a:blipFill>
            <a:blip r:embed="rId4"/>
            <a:stretch>
              <a:fillRect l="0" t="0" r="0" b="0"/>
            </a:stretch>
          </a:blipFill>
        </p:spPr>
      </p:sp>
      <p:sp>
        <p:nvSpPr>
          <p:cNvPr name="Freeform 11" id="11"/>
          <p:cNvSpPr/>
          <p:nvPr/>
        </p:nvSpPr>
        <p:spPr>
          <a:xfrm flipH="false" flipV="false" rot="0">
            <a:off x="9740768" y="3577836"/>
            <a:ext cx="7518518" cy="4680277"/>
          </a:xfrm>
          <a:custGeom>
            <a:avLst/>
            <a:gdLst/>
            <a:ahLst/>
            <a:cxnLst/>
            <a:rect r="r" b="b" t="t" l="l"/>
            <a:pathLst>
              <a:path h="4680277" w="7518518">
                <a:moveTo>
                  <a:pt x="0" y="0"/>
                </a:moveTo>
                <a:lnTo>
                  <a:pt x="7518517" y="0"/>
                </a:lnTo>
                <a:lnTo>
                  <a:pt x="7518517" y="4680277"/>
                </a:lnTo>
                <a:lnTo>
                  <a:pt x="0" y="4680277"/>
                </a:lnTo>
                <a:lnTo>
                  <a:pt x="0" y="0"/>
                </a:lnTo>
                <a:close/>
              </a:path>
            </a:pathLst>
          </a:custGeom>
          <a:blipFill>
            <a:blip r:embed="rId5"/>
            <a:stretch>
              <a:fillRect l="0" t="0" r="0" b="0"/>
            </a:stretch>
          </a:blipFill>
        </p:spPr>
      </p:sp>
      <p:sp>
        <p:nvSpPr>
          <p:cNvPr name="TextBox 12" id="12"/>
          <p:cNvSpPr txBox="true"/>
          <p:nvPr/>
        </p:nvSpPr>
        <p:spPr>
          <a:xfrm rot="0">
            <a:off x="1497275" y="8543863"/>
            <a:ext cx="14548805" cy="364246"/>
          </a:xfrm>
          <a:prstGeom prst="rect">
            <a:avLst/>
          </a:prstGeom>
        </p:spPr>
        <p:txBody>
          <a:bodyPr anchor="t" rtlCol="false" tIns="0" lIns="0" bIns="0" rIns="0">
            <a:spAutoFit/>
          </a:bodyPr>
          <a:lstStyle/>
          <a:p>
            <a:pPr algn="l">
              <a:lnSpc>
                <a:spcPts val="2851"/>
              </a:lnSpc>
            </a:pPr>
            <a:r>
              <a:rPr lang="en-US" sz="2193">
                <a:solidFill>
                  <a:srgbClr val="000000"/>
                </a:solidFill>
                <a:latin typeface="Public Sans"/>
                <a:ea typeface="Public Sans"/>
                <a:cs typeface="Public Sans"/>
                <a:sym typeface="Public Sans"/>
              </a:rPr>
              <a:t>Histogram Grayscale Sebelum dan Sesudah Peningkatan Kualitas Citra</a:t>
            </a:r>
          </a:p>
        </p:txBody>
      </p:sp>
      <p:sp>
        <p:nvSpPr>
          <p:cNvPr name="TextBox 13" id="13"/>
          <p:cNvSpPr txBox="true"/>
          <p:nvPr/>
        </p:nvSpPr>
        <p:spPr>
          <a:xfrm rot="0">
            <a:off x="1038225" y="1618421"/>
            <a:ext cx="10797975" cy="1846870"/>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Metodologi Sistem </a:t>
            </a:r>
          </a:p>
          <a:p>
            <a:pPr algn="l">
              <a:lnSpc>
                <a:spcPts val="728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38225" y="3623491"/>
            <a:ext cx="13941900" cy="3342726"/>
          </a:xfrm>
          <a:prstGeom prst="rect">
            <a:avLst/>
          </a:prstGeom>
        </p:spPr>
        <p:txBody>
          <a:bodyPr anchor="t" rtlCol="false" tIns="0" lIns="0" bIns="0" rIns="0">
            <a:spAutoFit/>
          </a:bodyPr>
          <a:lstStyle/>
          <a:p>
            <a:pPr algn="just">
              <a:lnSpc>
                <a:spcPts val="2981"/>
              </a:lnSpc>
            </a:pPr>
          </a:p>
          <a:p>
            <a:pPr algn="just">
              <a:lnSpc>
                <a:spcPts val="2981"/>
              </a:lnSpc>
            </a:pPr>
            <a:r>
              <a:rPr lang="en-US" sz="2293">
                <a:solidFill>
                  <a:srgbClr val="000000"/>
                </a:solidFill>
                <a:latin typeface="Public Sans"/>
                <a:ea typeface="Public Sans"/>
                <a:cs typeface="Public Sans"/>
                <a:sym typeface="Public Sans"/>
              </a:rPr>
              <a:t>1 .</a:t>
            </a:r>
            <a:r>
              <a:rPr lang="en-US" sz="2293">
                <a:solidFill>
                  <a:srgbClr val="000000"/>
                </a:solidFill>
                <a:latin typeface="Public Sans"/>
                <a:ea typeface="Public Sans"/>
                <a:cs typeface="Public Sans"/>
                <a:sym typeface="Public Sans"/>
              </a:rPr>
              <a:t>Fitur Wa</a:t>
            </a:r>
            <a:r>
              <a:rPr lang="en-US" sz="2293">
                <a:solidFill>
                  <a:srgbClr val="000000"/>
                </a:solidFill>
                <a:latin typeface="Public Sans"/>
                <a:ea typeface="Public Sans"/>
                <a:cs typeface="Public Sans"/>
                <a:sym typeface="Public Sans"/>
              </a:rPr>
              <a:t>rna (HSV)</a:t>
            </a:r>
          </a:p>
          <a:p>
            <a:pPr algn="just">
              <a:lnSpc>
                <a:spcPts val="2981"/>
              </a:lnSpc>
            </a:pPr>
            <a:r>
              <a:rPr lang="en-US" sz="2293">
                <a:solidFill>
                  <a:srgbClr val="000000"/>
                </a:solidFill>
                <a:latin typeface="Public Sans"/>
                <a:ea typeface="Public Sans"/>
                <a:cs typeface="Public Sans"/>
                <a:sym typeface="Public Sans"/>
              </a:rPr>
              <a:t>D</a:t>
            </a:r>
            <a:r>
              <a:rPr lang="en-US" sz="2293">
                <a:solidFill>
                  <a:srgbClr val="000000"/>
                </a:solidFill>
                <a:latin typeface="Public Sans"/>
                <a:ea typeface="Public Sans"/>
                <a:cs typeface="Public Sans"/>
                <a:sym typeface="Public Sans"/>
              </a:rPr>
              <a:t>apat diperoleh dengan menggunakan model warna HSV (Hue, Saturation, Value). </a:t>
            </a:r>
            <a:r>
              <a:rPr lang="en-US" sz="2293">
                <a:solidFill>
                  <a:srgbClr val="000000"/>
                </a:solidFill>
                <a:latin typeface="Public Sans"/>
                <a:ea typeface="Public Sans"/>
                <a:cs typeface="Public Sans"/>
                <a:sym typeface="Public Sans"/>
              </a:rPr>
              <a:t>Digunakan untuk membedakan karakteristik warna alami sampah organik dan warna konsisten pada sampah anorganik.</a:t>
            </a:r>
          </a:p>
          <a:p>
            <a:pPr algn="just">
              <a:lnSpc>
                <a:spcPts val="2981"/>
              </a:lnSpc>
            </a:pPr>
          </a:p>
          <a:p>
            <a:pPr algn="just">
              <a:lnSpc>
                <a:spcPts val="2981"/>
              </a:lnSpc>
            </a:pPr>
            <a:r>
              <a:rPr lang="en-US" sz="2293">
                <a:solidFill>
                  <a:srgbClr val="000000"/>
                </a:solidFill>
                <a:latin typeface="Public Sans"/>
                <a:ea typeface="Public Sans"/>
                <a:cs typeface="Public Sans"/>
                <a:sym typeface="Public Sans"/>
              </a:rPr>
              <a:t>2 .</a:t>
            </a:r>
            <a:r>
              <a:rPr lang="en-US" sz="2293">
                <a:solidFill>
                  <a:srgbClr val="000000"/>
                </a:solidFill>
                <a:latin typeface="Public Sans"/>
                <a:ea typeface="Public Sans"/>
                <a:cs typeface="Public Sans"/>
                <a:sym typeface="Public Sans"/>
              </a:rPr>
              <a:t>Fitur Bentuk</a:t>
            </a:r>
          </a:p>
          <a:p>
            <a:pPr algn="just">
              <a:lnSpc>
                <a:spcPts val="2981"/>
              </a:lnSpc>
            </a:pPr>
            <a:r>
              <a:rPr lang="en-US" sz="2293">
                <a:solidFill>
                  <a:srgbClr val="000000"/>
                </a:solidFill>
                <a:latin typeface="Public Sans"/>
                <a:ea typeface="Public Sans"/>
                <a:cs typeface="Public Sans"/>
                <a:sym typeface="Public Sans"/>
              </a:rPr>
              <a:t> dapat diperoleh dari sifat geometris citra. Hasil ekstraksi fitur ini diwakili dalam bentuk data numerik, yang digunakan sebagai masukan untuk proses klasifikasi .</a:t>
            </a:r>
            <a:r>
              <a:rPr lang="en-US" sz="2293">
                <a:solidFill>
                  <a:srgbClr val="000000"/>
                </a:solidFill>
                <a:latin typeface="Public Sans"/>
                <a:ea typeface="Public Sans"/>
                <a:cs typeface="Public Sans"/>
                <a:sym typeface="Public Sans"/>
              </a:rPr>
              <a:t>Menggunakan karakteristik geometris objek untuk memperkuat proses klasifikasi.</a:t>
            </a:r>
          </a:p>
        </p:txBody>
      </p:sp>
      <p:sp>
        <p:nvSpPr>
          <p:cNvPr name="TextBox 11" id="11"/>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Ekstraksi Fitur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886499" y="4447478"/>
            <a:ext cx="15868217" cy="2929705"/>
          </a:xfrm>
          <a:prstGeom prst="rect">
            <a:avLst/>
          </a:prstGeom>
        </p:spPr>
        <p:txBody>
          <a:bodyPr anchor="t" rtlCol="false" tIns="0" lIns="0" bIns="0" rIns="0">
            <a:spAutoFit/>
          </a:bodyPr>
          <a:lstStyle/>
          <a:p>
            <a:pPr algn="l" marL="638681" indent="-319341" lvl="1">
              <a:lnSpc>
                <a:spcPts val="3845"/>
              </a:lnSpc>
              <a:buFont typeface="Arial"/>
              <a:buChar char="•"/>
            </a:pPr>
            <a:r>
              <a:rPr lang="en-US" sz="2958">
                <a:solidFill>
                  <a:srgbClr val="000000"/>
                </a:solidFill>
                <a:latin typeface="Public Sans"/>
                <a:ea typeface="Public Sans"/>
                <a:cs typeface="Public Sans"/>
                <a:sym typeface="Public Sans"/>
              </a:rPr>
              <a:t>Algoritma ensemble learning</a:t>
            </a:r>
          </a:p>
          <a:p>
            <a:pPr algn="l" marL="638681" indent="-319341" lvl="1">
              <a:lnSpc>
                <a:spcPts val="3845"/>
              </a:lnSpc>
              <a:buFont typeface="Arial"/>
              <a:buChar char="•"/>
            </a:pPr>
            <a:r>
              <a:rPr lang="en-US" sz="2958">
                <a:solidFill>
                  <a:srgbClr val="000000"/>
                </a:solidFill>
                <a:latin typeface="Public Sans"/>
                <a:ea typeface="Public Sans"/>
                <a:cs typeface="Public Sans"/>
                <a:sym typeface="Public Sans"/>
              </a:rPr>
              <a:t>Menggunakan banyak decision tree</a:t>
            </a:r>
          </a:p>
          <a:p>
            <a:pPr algn="l" marL="638681" indent="-319341" lvl="1">
              <a:lnSpc>
                <a:spcPts val="3845"/>
              </a:lnSpc>
              <a:buFont typeface="Arial"/>
              <a:buChar char="•"/>
            </a:pPr>
            <a:r>
              <a:rPr lang="en-US" sz="2958">
                <a:solidFill>
                  <a:srgbClr val="000000"/>
                </a:solidFill>
                <a:latin typeface="Public Sans"/>
                <a:ea typeface="Public Sans"/>
                <a:cs typeface="Public Sans"/>
                <a:sym typeface="Public Sans"/>
              </a:rPr>
              <a:t>Voting mayoritas</a:t>
            </a:r>
          </a:p>
          <a:p>
            <a:pPr algn="l" marL="638681" indent="-319341" lvl="1">
              <a:lnSpc>
                <a:spcPts val="3845"/>
              </a:lnSpc>
              <a:buFont typeface="Arial"/>
              <a:buChar char="•"/>
            </a:pPr>
            <a:r>
              <a:rPr lang="en-US" sz="2958">
                <a:solidFill>
                  <a:srgbClr val="000000"/>
                </a:solidFill>
                <a:latin typeface="Public Sans"/>
                <a:ea typeface="Public Sans"/>
                <a:cs typeface="Public Sans"/>
                <a:sym typeface="Public Sans"/>
              </a:rPr>
              <a:t>Efektif untuk dataset kecil</a:t>
            </a:r>
          </a:p>
          <a:p>
            <a:pPr algn="l" marL="638681" indent="-319341" lvl="1">
              <a:lnSpc>
                <a:spcPts val="3845"/>
              </a:lnSpc>
              <a:buFont typeface="Arial"/>
              <a:buChar char="•"/>
            </a:pPr>
            <a:r>
              <a:rPr lang="en-US" sz="2958">
                <a:solidFill>
                  <a:srgbClr val="000000"/>
                </a:solidFill>
                <a:latin typeface="Public Sans"/>
                <a:ea typeface="Public Sans"/>
                <a:cs typeface="Public Sans"/>
                <a:sym typeface="Public Sans"/>
              </a:rPr>
              <a:t>Random Forest digunakan sebagai pengklasifikasi akhir setelah seluruh proses pengolahan citra selesai.</a:t>
            </a:r>
          </a:p>
        </p:txBody>
      </p:sp>
      <p:sp>
        <p:nvSpPr>
          <p:cNvPr name="TextBox 11" id="11"/>
          <p:cNvSpPr txBox="true"/>
          <p:nvPr/>
        </p:nvSpPr>
        <p:spPr>
          <a:xfrm rot="0">
            <a:off x="1038225" y="1618421"/>
            <a:ext cx="10797975" cy="1846870"/>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Random Forest</a:t>
            </a:r>
          </a:p>
          <a:p>
            <a:pPr algn="l">
              <a:lnSpc>
                <a:spcPts val="7283"/>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38225" y="3572827"/>
            <a:ext cx="15938645" cy="5336221"/>
          </a:xfrm>
          <a:prstGeom prst="rect">
            <a:avLst/>
          </a:prstGeom>
        </p:spPr>
        <p:txBody>
          <a:bodyPr anchor="t" rtlCol="false" tIns="0" lIns="0" bIns="0" rIns="0">
            <a:spAutoFit/>
          </a:bodyPr>
          <a:lstStyle/>
          <a:p>
            <a:pPr algn="l">
              <a:lnSpc>
                <a:spcPts val="2697"/>
              </a:lnSpc>
            </a:pPr>
            <a:r>
              <a:rPr lang="en-US" sz="2075">
                <a:solidFill>
                  <a:srgbClr val="000000"/>
                </a:solidFill>
                <a:latin typeface="Public Sans"/>
                <a:ea typeface="Public Sans"/>
                <a:cs typeface="Public Sans"/>
                <a:sym typeface="Public Sans"/>
              </a:rPr>
              <a:t>1 .Python</a:t>
            </a:r>
          </a:p>
          <a:p>
            <a:pPr algn="l">
              <a:lnSpc>
                <a:spcPts val="2697"/>
              </a:lnSpc>
            </a:pPr>
            <a:r>
              <a:rPr lang="en-US" sz="2075">
                <a:solidFill>
                  <a:srgbClr val="000000"/>
                </a:solidFill>
                <a:latin typeface="Public Sans"/>
                <a:ea typeface="Public Sans"/>
                <a:cs typeface="Public Sans"/>
                <a:sym typeface="Public Sans"/>
              </a:rPr>
              <a:t>Bahasa pemro</a:t>
            </a:r>
            <a:r>
              <a:rPr lang="en-US" sz="2075">
                <a:solidFill>
                  <a:srgbClr val="000000"/>
                </a:solidFill>
                <a:latin typeface="Public Sans"/>
                <a:ea typeface="Public Sans"/>
                <a:cs typeface="Public Sans"/>
                <a:sym typeface="Public Sans"/>
              </a:rPr>
              <a:t>graman Python digunakan sebagai bahasa utama dalam pengembangan sistem karena memiliki banyak pustaka pendukung untuk pengolahan citra digital dan machine learning, serta mudah diimplementasikan.</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2 .Google Colab</a:t>
            </a:r>
          </a:p>
          <a:p>
            <a:pPr algn="l">
              <a:lnSpc>
                <a:spcPts val="2697"/>
              </a:lnSpc>
            </a:pPr>
            <a:r>
              <a:rPr lang="en-US" sz="2075">
                <a:solidFill>
                  <a:srgbClr val="000000"/>
                </a:solidFill>
                <a:latin typeface="Public Sans"/>
                <a:ea typeface="Public Sans"/>
                <a:cs typeface="Public Sans"/>
                <a:sym typeface="Public Sans"/>
              </a:rPr>
              <a:t>Seluruh proses pengolahan citra dan klasifikasi dijalankan pada platform Google Colab. Platform ini dipilih karena menyediakan lingkungan komputasi yang siap pakai tanpa perlu instalasi lokal, serta mudah terintegrasi dengan Google Drive.</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3. OpenCV, NumPy, dan Scikit-learn</a:t>
            </a:r>
          </a:p>
          <a:p>
            <a:pPr algn="l">
              <a:lnSpc>
                <a:spcPts val="2697"/>
              </a:lnSpc>
            </a:pPr>
            <a:r>
              <a:rPr lang="en-US" sz="2075">
                <a:solidFill>
                  <a:srgbClr val="000000"/>
                </a:solidFill>
                <a:latin typeface="Public Sans"/>
                <a:ea typeface="Public Sans"/>
                <a:cs typeface="Public Sans"/>
                <a:sym typeface="Public Sans"/>
              </a:rPr>
              <a:t>Library OpenCV digunakan untuk proses pengolahan citra seperti filtering, deteksi tepi, dan operasi morfologi. NumPy digunakan untuk pengolahan data numerik dan manipulasi array, sedangkan Scikit-learn digunakan untuk membangun dan mengevaluasi model Random Forest.</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4 .Dataset di Google Drive</a:t>
            </a:r>
          </a:p>
          <a:p>
            <a:pPr algn="l">
              <a:lnSpc>
                <a:spcPts val="2697"/>
              </a:lnSpc>
            </a:pPr>
            <a:r>
              <a:rPr lang="en-US" sz="2075">
                <a:solidFill>
                  <a:srgbClr val="000000"/>
                </a:solidFill>
                <a:latin typeface="Public Sans"/>
                <a:ea typeface="Public Sans"/>
                <a:cs typeface="Public Sans"/>
                <a:sym typeface="Public Sans"/>
              </a:rPr>
              <a:t>Dataset citra sampah disimpan di Google Drive dan diakses langsung dari Google Colab. Hal ini memudahkan pengelolaan data, pembagian dataset, serta proses pelatihan dan pengujian model.</a:t>
            </a:r>
          </a:p>
        </p:txBody>
      </p:sp>
      <p:sp>
        <p:nvSpPr>
          <p:cNvPr name="TextBox 11" id="11"/>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Implementasi Sistem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038225" y="3572827"/>
            <a:ext cx="15938645" cy="5336221"/>
          </a:xfrm>
          <a:prstGeom prst="rect">
            <a:avLst/>
          </a:prstGeom>
        </p:spPr>
        <p:txBody>
          <a:bodyPr anchor="t" rtlCol="false" tIns="0" lIns="0" bIns="0" rIns="0">
            <a:spAutoFit/>
          </a:bodyPr>
          <a:lstStyle/>
          <a:p>
            <a:pPr algn="l">
              <a:lnSpc>
                <a:spcPts val="2697"/>
              </a:lnSpc>
            </a:pPr>
            <a:r>
              <a:rPr lang="en-US" sz="2075">
                <a:solidFill>
                  <a:srgbClr val="000000"/>
                </a:solidFill>
                <a:latin typeface="Public Sans"/>
                <a:ea typeface="Public Sans"/>
                <a:cs typeface="Public Sans"/>
                <a:sym typeface="Public Sans"/>
              </a:rPr>
              <a:t>1 .Python</a:t>
            </a:r>
          </a:p>
          <a:p>
            <a:pPr algn="l">
              <a:lnSpc>
                <a:spcPts val="2697"/>
              </a:lnSpc>
            </a:pPr>
            <a:r>
              <a:rPr lang="en-US" sz="2075">
                <a:solidFill>
                  <a:srgbClr val="000000"/>
                </a:solidFill>
                <a:latin typeface="Public Sans"/>
                <a:ea typeface="Public Sans"/>
                <a:cs typeface="Public Sans"/>
                <a:sym typeface="Public Sans"/>
              </a:rPr>
              <a:t>Bahasa pemro</a:t>
            </a:r>
            <a:r>
              <a:rPr lang="en-US" sz="2075">
                <a:solidFill>
                  <a:srgbClr val="000000"/>
                </a:solidFill>
                <a:latin typeface="Public Sans"/>
                <a:ea typeface="Public Sans"/>
                <a:cs typeface="Public Sans"/>
                <a:sym typeface="Public Sans"/>
              </a:rPr>
              <a:t>graman Python digunakan sebagai bahasa utama dalam pengembangan sistem karena memiliki banyak pustaka pendukung untuk pengolahan citra digital dan machine learning, serta mudah diimplementasikan.</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2 .Google Colab</a:t>
            </a:r>
          </a:p>
          <a:p>
            <a:pPr algn="l">
              <a:lnSpc>
                <a:spcPts val="2697"/>
              </a:lnSpc>
            </a:pPr>
            <a:r>
              <a:rPr lang="en-US" sz="2075">
                <a:solidFill>
                  <a:srgbClr val="000000"/>
                </a:solidFill>
                <a:latin typeface="Public Sans"/>
                <a:ea typeface="Public Sans"/>
                <a:cs typeface="Public Sans"/>
                <a:sym typeface="Public Sans"/>
              </a:rPr>
              <a:t>Seluruh proses pengolahan citra dan klasifikasi dijalankan pada platform Google Colab. Platform ini dipilih karena menyediakan lingkungan komputasi yang siap pakai tanpa perlu instalasi lokal, serta mudah terintegrasi dengan Google Drive.</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3. OpenCV, NumPy, dan Scikit-learn</a:t>
            </a:r>
          </a:p>
          <a:p>
            <a:pPr algn="l">
              <a:lnSpc>
                <a:spcPts val="2697"/>
              </a:lnSpc>
            </a:pPr>
            <a:r>
              <a:rPr lang="en-US" sz="2075">
                <a:solidFill>
                  <a:srgbClr val="000000"/>
                </a:solidFill>
                <a:latin typeface="Public Sans"/>
                <a:ea typeface="Public Sans"/>
                <a:cs typeface="Public Sans"/>
                <a:sym typeface="Public Sans"/>
              </a:rPr>
              <a:t>Library OpenCV digunakan untuk proses pengolahan citra seperti filtering, deteksi tepi, dan operasi morfologi. NumPy digunakan untuk pengolahan data numerik dan manipulasi array, sedangkan Scikit-learn digunakan untuk membangun dan mengevaluasi model Random Forest.</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4 .Dataset di Google Drive</a:t>
            </a:r>
          </a:p>
          <a:p>
            <a:pPr algn="l">
              <a:lnSpc>
                <a:spcPts val="2697"/>
              </a:lnSpc>
            </a:pPr>
            <a:r>
              <a:rPr lang="en-US" sz="2075">
                <a:solidFill>
                  <a:srgbClr val="000000"/>
                </a:solidFill>
                <a:latin typeface="Public Sans"/>
                <a:ea typeface="Public Sans"/>
                <a:cs typeface="Public Sans"/>
                <a:sym typeface="Public Sans"/>
              </a:rPr>
              <a:t>Dataset citra sampah disimpan di Google Drive dan diakses langsung dari Google Colab. Hal ini memudahkan pengelolaan data, pembagian dataset, serta proses pelatihan dan pengujian model.</a:t>
            </a:r>
          </a:p>
        </p:txBody>
      </p:sp>
      <p:sp>
        <p:nvSpPr>
          <p:cNvPr name="TextBox 11" id="11"/>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Implementasi Sistem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51802" y="5506561"/>
            <a:ext cx="14633731" cy="3660336"/>
          </a:xfrm>
          <a:custGeom>
            <a:avLst/>
            <a:gdLst/>
            <a:ahLst/>
            <a:cxnLst/>
            <a:rect r="r" b="b" t="t" l="l"/>
            <a:pathLst>
              <a:path h="3660336" w="14633731">
                <a:moveTo>
                  <a:pt x="0" y="0"/>
                </a:moveTo>
                <a:lnTo>
                  <a:pt x="14633731" y="0"/>
                </a:lnTo>
                <a:lnTo>
                  <a:pt x="14633731" y="3660336"/>
                </a:lnTo>
                <a:lnTo>
                  <a:pt x="0" y="3660336"/>
                </a:lnTo>
                <a:lnTo>
                  <a:pt x="0" y="0"/>
                </a:lnTo>
                <a:close/>
              </a:path>
            </a:pathLst>
          </a:custGeom>
          <a:blipFill>
            <a:blip r:embed="rId4"/>
            <a:stretch>
              <a:fillRect l="0" t="0" r="-13053" b="0"/>
            </a:stretch>
          </a:blipFill>
        </p:spPr>
      </p:sp>
      <p:sp>
        <p:nvSpPr>
          <p:cNvPr name="TextBox 11" id="11"/>
          <p:cNvSpPr txBox="true"/>
          <p:nvPr/>
        </p:nvSpPr>
        <p:spPr>
          <a:xfrm rot="0">
            <a:off x="1038225" y="3143341"/>
            <a:ext cx="15938645" cy="1669096"/>
          </a:xfrm>
          <a:prstGeom prst="rect">
            <a:avLst/>
          </a:prstGeom>
        </p:spPr>
        <p:txBody>
          <a:bodyPr anchor="t" rtlCol="false" tIns="0" lIns="0" bIns="0" rIns="0">
            <a:spAutoFit/>
          </a:bodyPr>
          <a:lstStyle/>
          <a:p>
            <a:pPr algn="l">
              <a:lnSpc>
                <a:spcPts val="2697"/>
              </a:lnSpc>
            </a:pPr>
            <a:r>
              <a:rPr lang="en-US" sz="2075">
                <a:solidFill>
                  <a:srgbClr val="000000"/>
                </a:solidFill>
                <a:latin typeface="Public Sans"/>
                <a:ea typeface="Public Sans"/>
                <a:cs typeface="Public Sans"/>
                <a:sym typeface="Public Sans"/>
              </a:rPr>
              <a:t>Hi</a:t>
            </a:r>
            <a:r>
              <a:rPr lang="en-US" sz="2075">
                <a:solidFill>
                  <a:srgbClr val="000000"/>
                </a:solidFill>
                <a:latin typeface="Public Sans"/>
                <a:ea typeface="Public Sans"/>
                <a:cs typeface="Public Sans"/>
                <a:sym typeface="Public Sans"/>
              </a:rPr>
              <a:t>sto</a:t>
            </a:r>
            <a:r>
              <a:rPr lang="en-US" sz="2075">
                <a:solidFill>
                  <a:srgbClr val="000000"/>
                </a:solidFill>
                <a:latin typeface="Public Sans"/>
                <a:ea typeface="Public Sans"/>
                <a:cs typeface="Public Sans"/>
                <a:sym typeface="Public Sans"/>
              </a:rPr>
              <a:t>gram Citra</a:t>
            </a:r>
          </a:p>
          <a:p>
            <a:pPr algn="l">
              <a:lnSpc>
                <a:spcPts val="2697"/>
              </a:lnSpc>
            </a:pPr>
            <a:r>
              <a:rPr lang="en-US" sz="2075">
                <a:solidFill>
                  <a:srgbClr val="000000"/>
                </a:solidFill>
                <a:latin typeface="Public Sans"/>
                <a:ea typeface="Public Sans"/>
                <a:cs typeface="Public Sans"/>
                <a:sym typeface="Public Sans"/>
              </a:rPr>
              <a:t>Distribusi intensitas piksel menjadi lebih merata setelah enhancement.</a:t>
            </a:r>
          </a:p>
          <a:p>
            <a:pPr algn="l">
              <a:lnSpc>
                <a:spcPts val="2697"/>
              </a:lnSpc>
            </a:pPr>
          </a:p>
          <a:p>
            <a:pPr algn="l">
              <a:lnSpc>
                <a:spcPts val="2697"/>
              </a:lnSpc>
            </a:pPr>
            <a:r>
              <a:rPr lang="en-US" sz="2075">
                <a:solidFill>
                  <a:srgbClr val="000000"/>
                </a:solidFill>
                <a:latin typeface="Public Sans"/>
                <a:ea typeface="Public Sans"/>
                <a:cs typeface="Public Sans"/>
                <a:sym typeface="Public Sans"/>
              </a:rPr>
              <a:t>Filtering &amp; Deteksi Tepi</a:t>
            </a:r>
          </a:p>
          <a:p>
            <a:pPr algn="l">
              <a:lnSpc>
                <a:spcPts val="2697"/>
              </a:lnSpc>
            </a:pPr>
            <a:r>
              <a:rPr lang="en-US" sz="2075">
                <a:solidFill>
                  <a:srgbClr val="000000"/>
                </a:solidFill>
                <a:latin typeface="Public Sans"/>
                <a:ea typeface="Public Sans"/>
                <a:cs typeface="Public Sans"/>
                <a:sym typeface="Public Sans"/>
              </a:rPr>
              <a:t>Noise berkurang dan batas objek menjadi lebih jelas.</a:t>
            </a:r>
          </a:p>
        </p:txBody>
      </p:sp>
      <p:sp>
        <p:nvSpPr>
          <p:cNvPr name="TextBox 12" id="12"/>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Hasil Pengolahan Citra </a:t>
            </a:r>
          </a:p>
        </p:txBody>
      </p:sp>
      <p:sp>
        <p:nvSpPr>
          <p:cNvPr name="TextBox 13" id="13"/>
          <p:cNvSpPr txBox="true"/>
          <p:nvPr/>
        </p:nvSpPr>
        <p:spPr>
          <a:xfrm rot="0">
            <a:off x="1028700" y="4961414"/>
            <a:ext cx="15938645" cy="335596"/>
          </a:xfrm>
          <a:prstGeom prst="rect">
            <a:avLst/>
          </a:prstGeom>
        </p:spPr>
        <p:txBody>
          <a:bodyPr anchor="t" rtlCol="false" tIns="0" lIns="0" bIns="0" rIns="0">
            <a:spAutoFit/>
          </a:bodyPr>
          <a:lstStyle/>
          <a:p>
            <a:pPr algn="l">
              <a:lnSpc>
                <a:spcPts val="2697"/>
              </a:lnSpc>
            </a:pPr>
            <a:r>
              <a:rPr lang="en-US" sz="2075">
                <a:solidFill>
                  <a:srgbClr val="000000"/>
                </a:solidFill>
                <a:latin typeface="Public Sans"/>
                <a:ea typeface="Public Sans"/>
                <a:cs typeface="Public Sans"/>
                <a:sym typeface="Public Sans"/>
              </a:rPr>
              <a:t>Organik</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28700" y="4070348"/>
            <a:ext cx="14117479" cy="3525855"/>
          </a:xfrm>
          <a:custGeom>
            <a:avLst/>
            <a:gdLst/>
            <a:ahLst/>
            <a:cxnLst/>
            <a:rect r="r" b="b" t="t" l="l"/>
            <a:pathLst>
              <a:path h="3525855" w="14117479">
                <a:moveTo>
                  <a:pt x="0" y="0"/>
                </a:moveTo>
                <a:lnTo>
                  <a:pt x="14117479" y="0"/>
                </a:lnTo>
                <a:lnTo>
                  <a:pt x="14117479" y="3525855"/>
                </a:lnTo>
                <a:lnTo>
                  <a:pt x="0" y="3525855"/>
                </a:lnTo>
                <a:lnTo>
                  <a:pt x="0" y="0"/>
                </a:lnTo>
                <a:close/>
              </a:path>
            </a:pathLst>
          </a:custGeom>
          <a:blipFill>
            <a:blip r:embed="rId4"/>
            <a:stretch>
              <a:fillRect l="0" t="0" r="-12881" b="0"/>
            </a:stretch>
          </a:blipFill>
        </p:spPr>
      </p:sp>
      <p:sp>
        <p:nvSpPr>
          <p:cNvPr name="TextBox 11" id="11"/>
          <p:cNvSpPr txBox="true"/>
          <p:nvPr/>
        </p:nvSpPr>
        <p:spPr>
          <a:xfrm rot="0">
            <a:off x="1038225" y="3334702"/>
            <a:ext cx="15938645" cy="335596"/>
          </a:xfrm>
          <a:prstGeom prst="rect">
            <a:avLst/>
          </a:prstGeom>
        </p:spPr>
        <p:txBody>
          <a:bodyPr anchor="t" rtlCol="false" tIns="0" lIns="0" bIns="0" rIns="0">
            <a:spAutoFit/>
          </a:bodyPr>
          <a:lstStyle/>
          <a:p>
            <a:pPr algn="l">
              <a:lnSpc>
                <a:spcPts val="2697"/>
              </a:lnSpc>
            </a:pPr>
            <a:r>
              <a:rPr lang="en-US" sz="2075">
                <a:solidFill>
                  <a:srgbClr val="000000"/>
                </a:solidFill>
                <a:latin typeface="Public Sans"/>
                <a:ea typeface="Public Sans"/>
                <a:cs typeface="Public Sans"/>
                <a:sym typeface="Public Sans"/>
              </a:rPr>
              <a:t>Anorganik</a:t>
            </a:r>
          </a:p>
        </p:txBody>
      </p:sp>
      <p:sp>
        <p:nvSpPr>
          <p:cNvPr name="TextBox 12" id="12"/>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Hasil Pengolahan Citra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603748" y="5500102"/>
            <a:ext cx="4213856" cy="4513419"/>
          </a:xfrm>
          <a:custGeom>
            <a:avLst/>
            <a:gdLst/>
            <a:ahLst/>
            <a:cxnLst/>
            <a:rect r="r" b="b" t="t" l="l"/>
            <a:pathLst>
              <a:path h="4513419" w="4213856">
                <a:moveTo>
                  <a:pt x="0" y="0"/>
                </a:moveTo>
                <a:lnTo>
                  <a:pt x="4213856" y="0"/>
                </a:lnTo>
                <a:lnTo>
                  <a:pt x="4213856" y="4513419"/>
                </a:lnTo>
                <a:lnTo>
                  <a:pt x="0" y="4513419"/>
                </a:lnTo>
                <a:lnTo>
                  <a:pt x="0" y="0"/>
                </a:lnTo>
                <a:close/>
              </a:path>
            </a:pathLst>
          </a:custGeom>
          <a:blipFill>
            <a:blip r:embed="rId4"/>
            <a:stretch>
              <a:fillRect l="0" t="0" r="0" b="0"/>
            </a:stretch>
          </a:blipFill>
        </p:spPr>
      </p:sp>
      <p:sp>
        <p:nvSpPr>
          <p:cNvPr name="Freeform 11" id="11"/>
          <p:cNvSpPr/>
          <p:nvPr/>
        </p:nvSpPr>
        <p:spPr>
          <a:xfrm flipH="false" flipV="false" rot="0">
            <a:off x="10639693" y="5500102"/>
            <a:ext cx="4257469" cy="4544029"/>
          </a:xfrm>
          <a:custGeom>
            <a:avLst/>
            <a:gdLst/>
            <a:ahLst/>
            <a:cxnLst/>
            <a:rect r="r" b="b" t="t" l="l"/>
            <a:pathLst>
              <a:path h="4544029" w="4257469">
                <a:moveTo>
                  <a:pt x="0" y="0"/>
                </a:moveTo>
                <a:lnTo>
                  <a:pt x="4257469" y="0"/>
                </a:lnTo>
                <a:lnTo>
                  <a:pt x="4257469" y="4544030"/>
                </a:lnTo>
                <a:lnTo>
                  <a:pt x="0" y="4544030"/>
                </a:lnTo>
                <a:lnTo>
                  <a:pt x="0" y="0"/>
                </a:lnTo>
                <a:close/>
              </a:path>
            </a:pathLst>
          </a:custGeom>
          <a:blipFill>
            <a:blip r:embed="rId5"/>
            <a:stretch>
              <a:fillRect l="0" t="0" r="0" b="0"/>
            </a:stretch>
          </a:blipFill>
        </p:spPr>
      </p:sp>
      <p:sp>
        <p:nvSpPr>
          <p:cNvPr name="TextBox 12" id="12"/>
          <p:cNvSpPr txBox="true"/>
          <p:nvPr/>
        </p:nvSpPr>
        <p:spPr>
          <a:xfrm rot="0">
            <a:off x="965961" y="3048410"/>
            <a:ext cx="15258925" cy="1918293"/>
          </a:xfrm>
          <a:prstGeom prst="rect">
            <a:avLst/>
          </a:prstGeom>
        </p:spPr>
        <p:txBody>
          <a:bodyPr anchor="t" rtlCol="false" tIns="0" lIns="0" bIns="0" rIns="0">
            <a:spAutoFit/>
          </a:bodyPr>
          <a:lstStyle/>
          <a:p>
            <a:pPr algn="l">
              <a:lnSpc>
                <a:spcPts val="2582"/>
              </a:lnSpc>
            </a:pPr>
            <a:r>
              <a:rPr lang="en-US" sz="1986">
                <a:solidFill>
                  <a:srgbClr val="000000"/>
                </a:solidFill>
                <a:latin typeface="Public Sans"/>
                <a:ea typeface="Public Sans"/>
                <a:cs typeface="Public Sans"/>
                <a:sym typeface="Public Sans"/>
              </a:rPr>
              <a:t>1 .Klasifika</a:t>
            </a:r>
            <a:r>
              <a:rPr lang="en-US" sz="1986">
                <a:solidFill>
                  <a:srgbClr val="000000"/>
                </a:solidFill>
                <a:latin typeface="Public Sans"/>
                <a:ea typeface="Public Sans"/>
                <a:cs typeface="Public Sans"/>
                <a:sym typeface="Public Sans"/>
              </a:rPr>
              <a:t>si citra baru berhasil</a:t>
            </a:r>
          </a:p>
          <a:p>
            <a:pPr algn="l">
              <a:lnSpc>
                <a:spcPts val="2582"/>
              </a:lnSpc>
            </a:pPr>
            <a:r>
              <a:rPr lang="en-US" sz="1986">
                <a:solidFill>
                  <a:srgbClr val="000000"/>
                </a:solidFill>
                <a:latin typeface="Public Sans"/>
                <a:ea typeface="Public Sans"/>
                <a:cs typeface="Public Sans"/>
                <a:sym typeface="Public Sans"/>
              </a:rPr>
              <a:t>Model Random Fo</a:t>
            </a:r>
            <a:r>
              <a:rPr lang="en-US" sz="1986">
                <a:solidFill>
                  <a:srgbClr val="000000"/>
                </a:solidFill>
                <a:latin typeface="Public Sans"/>
                <a:ea typeface="Public Sans"/>
                <a:cs typeface="Public Sans"/>
                <a:sym typeface="Public Sans"/>
              </a:rPr>
              <a:t>rest mampu mengklasifikasikan citra sampah baru ke dalam kategori organik dan anorganik.</a:t>
            </a:r>
          </a:p>
          <a:p>
            <a:pPr algn="l">
              <a:lnSpc>
                <a:spcPts val="2582"/>
              </a:lnSpc>
            </a:pPr>
            <a:r>
              <a:rPr lang="en-US" sz="1986">
                <a:solidFill>
                  <a:srgbClr val="000000"/>
                </a:solidFill>
                <a:latin typeface="Public Sans"/>
                <a:ea typeface="Public Sans"/>
                <a:cs typeface="Public Sans"/>
                <a:sym typeface="Public Sans"/>
              </a:rPr>
              <a:t>2 .</a:t>
            </a:r>
            <a:r>
              <a:rPr lang="en-US" sz="1986">
                <a:solidFill>
                  <a:srgbClr val="000000"/>
                </a:solidFill>
                <a:latin typeface="Public Sans"/>
                <a:ea typeface="Public Sans"/>
                <a:cs typeface="Public Sans"/>
                <a:sym typeface="Public Sans"/>
              </a:rPr>
              <a:t>Augmentasi data membantu model</a:t>
            </a:r>
          </a:p>
          <a:p>
            <a:pPr algn="l">
              <a:lnSpc>
                <a:spcPts val="2582"/>
              </a:lnSpc>
            </a:pPr>
            <a:r>
              <a:rPr lang="en-US" sz="1986">
                <a:solidFill>
                  <a:srgbClr val="000000"/>
                </a:solidFill>
                <a:latin typeface="Public Sans"/>
                <a:ea typeface="Public Sans"/>
                <a:cs typeface="Public Sans"/>
                <a:sym typeface="Public Sans"/>
              </a:rPr>
              <a:t>Augmentasi citra menambah variasi data sehingga model lebih mampu mengenali pola yang berbeda.</a:t>
            </a:r>
          </a:p>
          <a:p>
            <a:pPr algn="l">
              <a:lnSpc>
                <a:spcPts val="2582"/>
              </a:lnSpc>
            </a:pPr>
            <a:r>
              <a:rPr lang="en-US" sz="1986">
                <a:solidFill>
                  <a:srgbClr val="000000"/>
                </a:solidFill>
                <a:latin typeface="Public Sans"/>
                <a:ea typeface="Public Sans"/>
                <a:cs typeface="Public Sans"/>
                <a:sym typeface="Public Sans"/>
              </a:rPr>
              <a:t>3 .Cross-val</a:t>
            </a:r>
            <a:r>
              <a:rPr lang="en-US" sz="1986">
                <a:solidFill>
                  <a:srgbClr val="000000"/>
                </a:solidFill>
                <a:latin typeface="Public Sans"/>
                <a:ea typeface="Public Sans"/>
                <a:cs typeface="Public Sans"/>
                <a:sym typeface="Public Sans"/>
              </a:rPr>
              <a:t>idation meningkatkan akurasi</a:t>
            </a:r>
          </a:p>
          <a:p>
            <a:pPr algn="l">
              <a:lnSpc>
                <a:spcPts val="2582"/>
              </a:lnSpc>
            </a:pPr>
            <a:r>
              <a:rPr lang="en-US" sz="1986">
                <a:solidFill>
                  <a:srgbClr val="000000"/>
                </a:solidFill>
                <a:latin typeface="Public Sans"/>
                <a:ea typeface="Public Sans"/>
                <a:cs typeface="Public Sans"/>
                <a:sym typeface="Public Sans"/>
              </a:rPr>
              <a:t>Pengujian dengan cross-validation membuat performa model lebih stabil dan mengurangi overfitting.</a:t>
            </a:r>
          </a:p>
        </p:txBody>
      </p:sp>
      <p:sp>
        <p:nvSpPr>
          <p:cNvPr name="TextBox 13" id="13"/>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Hasil Klasifikasi</a:t>
            </a:r>
          </a:p>
        </p:txBody>
      </p:sp>
      <p:sp>
        <p:nvSpPr>
          <p:cNvPr name="TextBox 14" id="14"/>
          <p:cNvSpPr txBox="true"/>
          <p:nvPr/>
        </p:nvSpPr>
        <p:spPr>
          <a:xfrm rot="0">
            <a:off x="4046679" y="5145623"/>
            <a:ext cx="15258925" cy="641661"/>
          </a:xfrm>
          <a:prstGeom prst="rect">
            <a:avLst/>
          </a:prstGeom>
        </p:spPr>
        <p:txBody>
          <a:bodyPr anchor="t" rtlCol="false" tIns="0" lIns="0" bIns="0" rIns="0">
            <a:spAutoFit/>
          </a:bodyPr>
          <a:lstStyle/>
          <a:p>
            <a:pPr algn="l">
              <a:lnSpc>
                <a:spcPts val="2582"/>
              </a:lnSpc>
            </a:pPr>
            <a:r>
              <a:rPr lang="en-US" sz="1986">
                <a:solidFill>
                  <a:srgbClr val="000000"/>
                </a:solidFill>
                <a:latin typeface="Public Sans"/>
                <a:ea typeface="Public Sans"/>
                <a:cs typeface="Public Sans"/>
                <a:sym typeface="Public Sans"/>
              </a:rPr>
              <a:t>Organik</a:t>
            </a:r>
          </a:p>
          <a:p>
            <a:pPr algn="l">
              <a:lnSpc>
                <a:spcPts val="2582"/>
              </a:lnSpc>
            </a:pPr>
          </a:p>
        </p:txBody>
      </p:sp>
      <p:sp>
        <p:nvSpPr>
          <p:cNvPr name="TextBox 15" id="15"/>
          <p:cNvSpPr txBox="true"/>
          <p:nvPr/>
        </p:nvSpPr>
        <p:spPr>
          <a:xfrm rot="0">
            <a:off x="12073675" y="5145623"/>
            <a:ext cx="15258925" cy="322503"/>
          </a:xfrm>
          <a:prstGeom prst="rect">
            <a:avLst/>
          </a:prstGeom>
        </p:spPr>
        <p:txBody>
          <a:bodyPr anchor="t" rtlCol="false" tIns="0" lIns="0" bIns="0" rIns="0">
            <a:spAutoFit/>
          </a:bodyPr>
          <a:lstStyle/>
          <a:p>
            <a:pPr algn="l">
              <a:lnSpc>
                <a:spcPts val="2582"/>
              </a:lnSpc>
            </a:pPr>
            <a:r>
              <a:rPr lang="en-US" sz="1986">
                <a:solidFill>
                  <a:srgbClr val="000000"/>
                </a:solidFill>
                <a:latin typeface="Public Sans"/>
                <a:ea typeface="Public Sans"/>
                <a:cs typeface="Public Sans"/>
                <a:sym typeface="Public Sans"/>
              </a:rPr>
              <a:t>Anorganik</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028720" y="2953702"/>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146179" y="1541619"/>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215362" y="1541619"/>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165254" y="3675054"/>
            <a:ext cx="13713076" cy="2724798"/>
          </a:xfrm>
          <a:prstGeom prst="rect">
            <a:avLst/>
          </a:prstGeom>
        </p:spPr>
        <p:txBody>
          <a:bodyPr anchor="t" rtlCol="false" tIns="0" lIns="0" bIns="0" rIns="0">
            <a:spAutoFit/>
          </a:bodyPr>
          <a:lstStyle/>
          <a:p>
            <a:pPr algn="just">
              <a:lnSpc>
                <a:spcPts val="3152"/>
              </a:lnSpc>
            </a:pPr>
            <a:r>
              <a:rPr lang="en-US" sz="2424">
                <a:solidFill>
                  <a:srgbClr val="000000"/>
                </a:solidFill>
                <a:latin typeface="Public Sans"/>
                <a:ea typeface="Public Sans"/>
                <a:cs typeface="Public Sans"/>
                <a:sym typeface="Public Sans"/>
              </a:rPr>
              <a:t>Berdasarkan hasil perancangan, implementasi, dan pengujian, dapat disimpulkan bahwa pengolahan</a:t>
            </a:r>
            <a:r>
              <a:rPr lang="en-US" sz="2424">
                <a:solidFill>
                  <a:srgbClr val="000000"/>
                </a:solidFill>
                <a:latin typeface="Public Sans"/>
                <a:ea typeface="Public Sans"/>
                <a:cs typeface="Public Sans"/>
                <a:sym typeface="Public Sans"/>
              </a:rPr>
              <a:t> citra digital efektif diterapkan untuk mengklasifikasikan sampah organik dan anorganik menggunakan cit</a:t>
            </a:r>
            <a:r>
              <a:rPr lang="en-US" sz="2424">
                <a:solidFill>
                  <a:srgbClr val="000000"/>
                </a:solidFill>
                <a:latin typeface="Public Sans"/>
                <a:ea typeface="Public Sans"/>
                <a:cs typeface="Public Sans"/>
                <a:sym typeface="Public Sans"/>
              </a:rPr>
              <a:t>ra statis. Tahapan peningkatan kualitas citra, ekstraksi fitur warna HSV dan bentuk, serta klasifikasi menggunakan </a:t>
            </a:r>
            <a:r>
              <a:rPr lang="en-US" sz="2424">
                <a:solidFill>
                  <a:srgbClr val="000000"/>
                </a:solidFill>
                <a:latin typeface="Public Sans"/>
                <a:ea typeface="Public Sans"/>
                <a:cs typeface="Public Sans"/>
                <a:sym typeface="Public Sans"/>
              </a:rPr>
              <a:t>Rando</a:t>
            </a:r>
            <a:r>
              <a:rPr lang="en-US" sz="2424">
                <a:solidFill>
                  <a:srgbClr val="000000"/>
                </a:solidFill>
                <a:latin typeface="Public Sans"/>
                <a:ea typeface="Public Sans"/>
                <a:cs typeface="Public Sans"/>
                <a:sym typeface="Public Sans"/>
              </a:rPr>
              <a:t>m Forest mampu menghasilkan performa yang cukup akurat, dan meskipun dataset terbatas, augmentasi citra </a:t>
            </a:r>
            <a:r>
              <a:rPr lang="en-US" sz="2424">
                <a:solidFill>
                  <a:srgbClr val="000000"/>
                </a:solidFill>
                <a:latin typeface="Public Sans"/>
                <a:ea typeface="Public Sans"/>
                <a:cs typeface="Public Sans"/>
                <a:sym typeface="Public Sans"/>
              </a:rPr>
              <a:t>sert</a:t>
            </a:r>
            <a:r>
              <a:rPr lang="en-US" sz="2424">
                <a:solidFill>
                  <a:srgbClr val="000000"/>
                </a:solidFill>
                <a:latin typeface="Public Sans"/>
                <a:ea typeface="Public Sans"/>
                <a:cs typeface="Public Sans"/>
                <a:sym typeface="Public Sans"/>
              </a:rPr>
              <a:t>a cross-validation meningkatkan stabilitas model, sehingga sistem ini berpotensi menjadi solusi sederhana untuk pemilahan sampah otomatis.</a:t>
            </a:r>
          </a:p>
        </p:txBody>
      </p:sp>
      <p:sp>
        <p:nvSpPr>
          <p:cNvPr name="TextBox 11" id="11"/>
          <p:cNvSpPr txBox="true"/>
          <p:nvPr/>
        </p:nvSpPr>
        <p:spPr>
          <a:xfrm rot="0">
            <a:off x="1038225" y="1618421"/>
            <a:ext cx="10797975" cy="923435"/>
          </a:xfrm>
          <a:prstGeom prst="rect">
            <a:avLst/>
          </a:prstGeom>
        </p:spPr>
        <p:txBody>
          <a:bodyPr anchor="t" rtlCol="false" tIns="0" lIns="0" bIns="0" rIns="0">
            <a:spAutoFit/>
          </a:bodyPr>
          <a:lstStyle/>
          <a:p>
            <a:pPr algn="l">
              <a:lnSpc>
                <a:spcPts val="7283"/>
              </a:lnSpc>
            </a:pPr>
            <a:r>
              <a:rPr lang="en-US" sz="6069">
                <a:solidFill>
                  <a:srgbClr val="000000"/>
                </a:solidFill>
                <a:latin typeface="Helvetica World"/>
                <a:ea typeface="Helvetica World"/>
                <a:cs typeface="Helvetica World"/>
                <a:sym typeface="Helvetica World"/>
              </a:rPr>
              <a:t>Kesimpulan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TextBox 2" id="2"/>
          <p:cNvSpPr txBox="true"/>
          <p:nvPr/>
        </p:nvSpPr>
        <p:spPr>
          <a:xfrm rot="0">
            <a:off x="1438361" y="3646036"/>
            <a:ext cx="13990031" cy="5435120"/>
          </a:xfrm>
          <a:prstGeom prst="rect">
            <a:avLst/>
          </a:prstGeom>
        </p:spPr>
        <p:txBody>
          <a:bodyPr anchor="t" rtlCol="false" tIns="0" lIns="0" bIns="0" rIns="0">
            <a:spAutoFit/>
          </a:bodyPr>
          <a:lstStyle/>
          <a:p>
            <a:pPr algn="just" marL="0" indent="0" lvl="0">
              <a:lnSpc>
                <a:spcPts val="2571"/>
              </a:lnSpc>
              <a:spcBef>
                <a:spcPct val="0"/>
              </a:spcBef>
            </a:pPr>
            <a:r>
              <a:rPr lang="en-US" sz="1978">
                <a:solidFill>
                  <a:srgbClr val="000000"/>
                </a:solidFill>
                <a:latin typeface="Public Sans"/>
                <a:ea typeface="Public Sans"/>
                <a:cs typeface="Public Sans"/>
                <a:sym typeface="Public Sans"/>
              </a:rPr>
              <a:t>[1] M. Syar</a:t>
            </a:r>
            <a:r>
              <a:rPr lang="en-US" sz="1978" u="none">
                <a:solidFill>
                  <a:srgbClr val="000000"/>
                </a:solidFill>
                <a:latin typeface="Public Sans"/>
                <a:ea typeface="Public Sans"/>
                <a:cs typeface="Public Sans"/>
                <a:sym typeface="Public Sans"/>
              </a:rPr>
              <a:t>if, S. Prasetyo, E. Oktaviana Az Zahra, Y. Indra Kristiawan, And R. Dwi Irawan, “Klasifikasi Sampah Organik    Dan Anorganik Menggunakan Transfer Learning Mobilenetv2 Pada Citra Digital,” Prosiding Seminar Nasional Teknologi Informasi Dan Bisnis, Pp. 1028–1033, 2025, Doi: 10.47701/Wabtd264. </a:t>
            </a:r>
          </a:p>
          <a:p>
            <a:pPr algn="just" marL="0" indent="0" lvl="0">
              <a:lnSpc>
                <a:spcPts val="2571"/>
              </a:lnSpc>
              <a:spcBef>
                <a:spcPct val="0"/>
              </a:spcBef>
            </a:pPr>
          </a:p>
          <a:p>
            <a:pPr algn="just" marL="0" indent="0" lvl="0">
              <a:lnSpc>
                <a:spcPts val="2571"/>
              </a:lnSpc>
              <a:spcBef>
                <a:spcPct val="0"/>
              </a:spcBef>
            </a:pPr>
            <a:r>
              <a:rPr lang="en-US" sz="1978" u="none">
                <a:solidFill>
                  <a:srgbClr val="000000"/>
                </a:solidFill>
                <a:latin typeface="Public Sans"/>
                <a:ea typeface="Public Sans"/>
                <a:cs typeface="Public Sans"/>
                <a:sym typeface="Public Sans"/>
              </a:rPr>
              <a:t>[2] P. A. R. Devi And H. Rosyid, “Pemaparan Materi Dasar Pengolahan Citra Digital Untuk Upgrade Wawasan Siswa Di Smk Dharma Wanita Gresik,” Jurnal Abdi Masyarakat Indonesia, Vol. 2, No. 4, Pp. 1259–1264, 2022, Doi: 10.54082/Jamsi.405. </a:t>
            </a:r>
          </a:p>
          <a:p>
            <a:pPr algn="just" marL="0" indent="0" lvl="0">
              <a:lnSpc>
                <a:spcPts val="2571"/>
              </a:lnSpc>
              <a:spcBef>
                <a:spcPct val="0"/>
              </a:spcBef>
            </a:pPr>
          </a:p>
          <a:p>
            <a:pPr algn="just" marL="0" indent="0" lvl="0">
              <a:lnSpc>
                <a:spcPts val="2571"/>
              </a:lnSpc>
              <a:spcBef>
                <a:spcPct val="0"/>
              </a:spcBef>
            </a:pPr>
            <a:r>
              <a:rPr lang="en-US" sz="1978" u="none">
                <a:solidFill>
                  <a:srgbClr val="000000"/>
                </a:solidFill>
                <a:latin typeface="Public Sans"/>
                <a:ea typeface="Public Sans"/>
                <a:cs typeface="Public Sans"/>
                <a:sym typeface="Public Sans"/>
              </a:rPr>
              <a:t>[3] K. Et Al 2023, “Pengelolaan Citra Digital ( Perbandingan Studi Kasus Antara Klasifikasi Warna Menggunakan Pengolahan Model Warna Hsv Dan Penerapan Metode Konvolusi Dalam Pengolahan Citra Digital ),” Vol. 32, No. 3, Pp. 167–186, 2021, Doi: Https://Doi.Org/10.5281/Zenodo.14272836. </a:t>
            </a:r>
          </a:p>
          <a:p>
            <a:pPr algn="just" marL="0" indent="0" lvl="0">
              <a:lnSpc>
                <a:spcPts val="2571"/>
              </a:lnSpc>
              <a:spcBef>
                <a:spcPct val="0"/>
              </a:spcBef>
            </a:pPr>
          </a:p>
          <a:p>
            <a:pPr algn="just" marL="0" indent="0" lvl="0">
              <a:lnSpc>
                <a:spcPts val="2571"/>
              </a:lnSpc>
              <a:spcBef>
                <a:spcPct val="0"/>
              </a:spcBef>
            </a:pPr>
            <a:r>
              <a:rPr lang="en-US" sz="1978" u="none">
                <a:solidFill>
                  <a:srgbClr val="000000"/>
                </a:solidFill>
                <a:latin typeface="Public Sans"/>
                <a:ea typeface="Public Sans"/>
                <a:cs typeface="Public Sans"/>
                <a:sym typeface="Public Sans"/>
              </a:rPr>
              <a:t>[4] J. Jumadi And D. Sartika, “Pengolahan Citra Digital Untuk Identifikasi Objek Menggunakan Metode Hierarchical Agglomerative Clustering, Jurnal Sains Dan Teknologi, Vol.10, No 2, Tahun 2021,” Vol. 10, No. 2, Pp. 148–156, 2021. </a:t>
            </a:r>
          </a:p>
          <a:p>
            <a:pPr algn="just" marL="0" indent="0" lvl="0">
              <a:lnSpc>
                <a:spcPts val="2571"/>
              </a:lnSpc>
              <a:spcBef>
                <a:spcPct val="0"/>
              </a:spcBef>
            </a:pPr>
            <a:r>
              <a:rPr lang="en-US" sz="1978" u="none">
                <a:solidFill>
                  <a:srgbClr val="000000"/>
                </a:solidFill>
                <a:latin typeface="Public Sans"/>
                <a:ea typeface="Public Sans"/>
                <a:cs typeface="Public Sans"/>
                <a:sym typeface="Public Sans"/>
              </a:rPr>
              <a:t>[5] D. Indra, L. N. Hayati, M. A. Daris, I. As’ad, And U. Mansyur, “Penerapan Metode Random Forest Dalam Klasifikasi Huruf Bisindo Dengan Menggunakan Ekstraksi Fitur Warna Dan Bentuk,” Komputika : Jurnal Sistem Komputer, Vol. 13, No. 1, Pp. 29–40, 2024, Doi: 10.34010/Komputika.V13i1.10363.</a:t>
            </a:r>
          </a:p>
        </p:txBody>
      </p:sp>
      <p:sp>
        <p:nvSpPr>
          <p:cNvPr name="AutoShape 3" id="3"/>
          <p:cNvSpPr/>
          <p:nvPr/>
        </p:nvSpPr>
        <p:spPr>
          <a:xfrm>
            <a:off x="1028720" y="2953702"/>
            <a:ext cx="16230565" cy="0"/>
          </a:xfrm>
          <a:prstGeom prst="line">
            <a:avLst/>
          </a:prstGeom>
          <a:ln cap="flat" w="19050">
            <a:solidFill>
              <a:srgbClr val="000000"/>
            </a:solidFill>
            <a:prstDash val="solid"/>
            <a:headEnd type="oval" len="lg" w="lg"/>
            <a:tailEnd type="oval" len="lg" w="lg"/>
          </a:ln>
        </p:spPr>
      </p:sp>
      <p:sp>
        <p:nvSpPr>
          <p:cNvPr name="TextBox 4" id="4"/>
          <p:cNvSpPr txBox="true"/>
          <p:nvPr/>
        </p:nvSpPr>
        <p:spPr>
          <a:xfrm rot="0">
            <a:off x="1038225" y="1427431"/>
            <a:ext cx="12808515" cy="1114425"/>
          </a:xfrm>
          <a:prstGeom prst="rect">
            <a:avLst/>
          </a:prstGeom>
        </p:spPr>
        <p:txBody>
          <a:bodyPr anchor="t" rtlCol="false" tIns="0" lIns="0" bIns="0" rIns="0">
            <a:spAutoFit/>
          </a:bodyPr>
          <a:lstStyle/>
          <a:p>
            <a:pPr algn="l" marL="0" indent="0" lvl="0">
              <a:lnSpc>
                <a:spcPts val="8640"/>
              </a:lnSpc>
              <a:spcBef>
                <a:spcPct val="0"/>
              </a:spcBef>
            </a:pPr>
            <a:r>
              <a:rPr lang="en-US" sz="7200" u="none">
                <a:solidFill>
                  <a:srgbClr val="000000"/>
                </a:solidFill>
                <a:latin typeface="Helvetica World"/>
                <a:ea typeface="Helvetica World"/>
                <a:cs typeface="Helvetica World"/>
                <a:sym typeface="Helvetica World"/>
              </a:rPr>
              <a:t>Resource Page</a:t>
            </a:r>
          </a:p>
        </p:txBody>
      </p:sp>
      <p:grpSp>
        <p:nvGrpSpPr>
          <p:cNvPr name="Group 5" id="5"/>
          <p:cNvGrpSpPr/>
          <p:nvPr/>
        </p:nvGrpSpPr>
        <p:grpSpPr>
          <a:xfrm rot="5400000">
            <a:off x="15146179" y="1541619"/>
            <a:ext cx="1078708" cy="107870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7" id="7"/>
            <p:cNvSpPr txBox="true"/>
            <p:nvPr/>
          </p:nvSpPr>
          <p:spPr>
            <a:xfrm>
              <a:off x="76200" y="57150"/>
              <a:ext cx="660400" cy="679450"/>
            </a:xfrm>
            <a:prstGeom prst="rect">
              <a:avLst/>
            </a:prstGeom>
          </p:spPr>
          <p:txBody>
            <a:bodyPr anchor="ctr" rtlCol="false" tIns="50800" lIns="50800" bIns="50800" rIns="50800"/>
            <a:lstStyle/>
            <a:p>
              <a:pPr algn="ctr">
                <a:lnSpc>
                  <a:spcPts val="1950"/>
                </a:lnSpc>
              </a:pPr>
            </a:p>
          </p:txBody>
        </p:sp>
      </p:grpSp>
      <p:grpSp>
        <p:nvGrpSpPr>
          <p:cNvPr name="Group 8" id="8"/>
          <p:cNvGrpSpPr/>
          <p:nvPr/>
        </p:nvGrpSpPr>
        <p:grpSpPr>
          <a:xfrm rot="5400000">
            <a:off x="16215362" y="1541619"/>
            <a:ext cx="1078708" cy="1078708"/>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10" id="10"/>
            <p:cNvSpPr txBox="true"/>
            <p:nvPr/>
          </p:nvSpPr>
          <p:spPr>
            <a:xfrm>
              <a:off x="76200" y="57150"/>
              <a:ext cx="660400" cy="679450"/>
            </a:xfrm>
            <a:prstGeom prst="rect">
              <a:avLst/>
            </a:prstGeom>
          </p:spPr>
          <p:txBody>
            <a:bodyPr anchor="ctr" rtlCol="false" tIns="50800" lIns="50800" bIns="50800" rIns="50800"/>
            <a:lstStyle/>
            <a:p>
              <a:pPr algn="ctr">
                <a:lnSpc>
                  <a:spcPts val="1950"/>
                </a:lnSpc>
              </a:pPr>
            </a:p>
          </p:txBody>
        </p:sp>
      </p:grpSp>
      <p:sp>
        <p:nvSpPr>
          <p:cNvPr name="Freeform 11" id="11"/>
          <p:cNvSpPr/>
          <p:nvPr/>
        </p:nvSpPr>
        <p:spPr>
          <a:xfrm flipH="false" flipV="false" rot="0">
            <a:off x="16532562" y="1858819"/>
            <a:ext cx="444308" cy="444308"/>
          </a:xfrm>
          <a:custGeom>
            <a:avLst/>
            <a:gdLst/>
            <a:ahLst/>
            <a:cxnLst/>
            <a:rect r="r" b="b" t="t" l="l"/>
            <a:pathLst>
              <a:path h="444308" w="444308">
                <a:moveTo>
                  <a:pt x="0" y="0"/>
                </a:moveTo>
                <a:lnTo>
                  <a:pt x="444308" y="0"/>
                </a:lnTo>
                <a:lnTo>
                  <a:pt x="444308"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AF6F1"/>
        </a:solidFill>
      </p:bgPr>
    </p:bg>
    <p:spTree>
      <p:nvGrpSpPr>
        <p:cNvPr id="1" name=""/>
        <p:cNvGrpSpPr/>
        <p:nvPr/>
      </p:nvGrpSpPr>
      <p:grpSpPr>
        <a:xfrm>
          <a:off x="0" y="0"/>
          <a:ext cx="0" cy="0"/>
          <a:chOff x="0" y="0"/>
          <a:chExt cx="0" cy="0"/>
        </a:xfrm>
      </p:grpSpPr>
      <p:sp>
        <p:nvSpPr>
          <p:cNvPr name="AutoShape 2" id="2"/>
          <p:cNvSpPr/>
          <p:nvPr/>
        </p:nvSpPr>
        <p:spPr>
          <a:xfrm>
            <a:off x="1119756" y="4604826"/>
            <a:ext cx="16230565" cy="0"/>
          </a:xfrm>
          <a:prstGeom prst="line">
            <a:avLst/>
          </a:prstGeom>
          <a:ln cap="flat" w="19050">
            <a:solidFill>
              <a:srgbClr val="000000"/>
            </a:solidFill>
            <a:prstDash val="solid"/>
            <a:headEnd type="oval" len="lg" w="lg"/>
            <a:tailEnd type="oval" len="lg" w="lg"/>
          </a:ln>
        </p:spPr>
      </p:sp>
      <p:grpSp>
        <p:nvGrpSpPr>
          <p:cNvPr name="Group 3" id="3"/>
          <p:cNvGrpSpPr/>
          <p:nvPr/>
        </p:nvGrpSpPr>
        <p:grpSpPr>
          <a:xfrm rot="5400000">
            <a:off x="15237215" y="3192743"/>
            <a:ext cx="1078708" cy="107870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5" id="5"/>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6" id="6"/>
          <p:cNvGrpSpPr/>
          <p:nvPr/>
        </p:nvGrpSpPr>
        <p:grpSpPr>
          <a:xfrm rot="5400000">
            <a:off x="16306397" y="3192743"/>
            <a:ext cx="1078708" cy="10787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8" id="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9" id="9"/>
          <p:cNvSpPr/>
          <p:nvPr/>
        </p:nvSpPr>
        <p:spPr>
          <a:xfrm flipH="false" flipV="false" rot="0">
            <a:off x="16623598" y="3509943"/>
            <a:ext cx="444308" cy="444308"/>
          </a:xfrm>
          <a:custGeom>
            <a:avLst/>
            <a:gdLst/>
            <a:ahLst/>
            <a:cxnLst/>
            <a:rect r="r" b="b" t="t" l="l"/>
            <a:pathLst>
              <a:path h="444308" w="444308">
                <a:moveTo>
                  <a:pt x="0" y="0"/>
                </a:moveTo>
                <a:lnTo>
                  <a:pt x="444307" y="0"/>
                </a:lnTo>
                <a:lnTo>
                  <a:pt x="444307" y="444308"/>
                </a:lnTo>
                <a:lnTo>
                  <a:pt x="0" y="4443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6001644" y="3095851"/>
            <a:ext cx="14656833" cy="1262967"/>
          </a:xfrm>
          <a:prstGeom prst="rect">
            <a:avLst/>
          </a:prstGeom>
        </p:spPr>
        <p:txBody>
          <a:bodyPr anchor="t" rtlCol="false" tIns="0" lIns="0" bIns="0" rIns="0">
            <a:spAutoFit/>
          </a:bodyPr>
          <a:lstStyle/>
          <a:p>
            <a:pPr algn="l" marL="0" indent="0" lvl="0">
              <a:lnSpc>
                <a:spcPts val="9886"/>
              </a:lnSpc>
              <a:spcBef>
                <a:spcPct val="0"/>
              </a:spcBef>
            </a:pPr>
            <a:r>
              <a:rPr lang="en-US" sz="8238">
                <a:solidFill>
                  <a:srgbClr val="000000"/>
                </a:solidFill>
                <a:latin typeface="Helvetica World"/>
                <a:ea typeface="Helvetica World"/>
                <a:cs typeface="Helvetica World"/>
                <a:sym typeface="Helvetica World"/>
              </a:rPr>
              <a:t>Terima Kasih</a:t>
            </a:r>
          </a:p>
        </p:txBody>
      </p:sp>
      <p:grpSp>
        <p:nvGrpSpPr>
          <p:cNvPr name="Group 11" id="11"/>
          <p:cNvGrpSpPr/>
          <p:nvPr/>
        </p:nvGrpSpPr>
        <p:grpSpPr>
          <a:xfrm rot="0">
            <a:off x="10689449" y="5884682"/>
            <a:ext cx="6569851" cy="2175510"/>
            <a:chOff x="0" y="0"/>
            <a:chExt cx="8759801" cy="2900681"/>
          </a:xfrm>
        </p:grpSpPr>
        <p:grpSp>
          <p:nvGrpSpPr>
            <p:cNvPr name="Group 12" id="12"/>
            <p:cNvGrpSpPr/>
            <p:nvPr/>
          </p:nvGrpSpPr>
          <p:grpSpPr>
            <a:xfrm rot="5400000">
              <a:off x="5859121" y="0"/>
              <a:ext cx="2900681" cy="290068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49804"/>
                  </a:srgbClr>
                </a:solidFill>
                <a:prstDash val="solid"/>
                <a:miter/>
              </a:ln>
            </p:spPr>
          </p:sp>
          <p:sp>
            <p:nvSpPr>
              <p:cNvPr name="TextBox 14" id="14"/>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15" id="15"/>
            <p:cNvGrpSpPr/>
            <p:nvPr/>
          </p:nvGrpSpPr>
          <p:grpSpPr>
            <a:xfrm rot="5400000">
              <a:off x="3849205" y="0"/>
              <a:ext cx="2900681" cy="29006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40784"/>
                  </a:srgbClr>
                </a:solidFill>
                <a:prstDash val="solid"/>
                <a:miter/>
              </a:ln>
            </p:spPr>
          </p:sp>
          <p:sp>
            <p:nvSpPr>
              <p:cNvPr name="TextBox 17" id="1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18" id="18"/>
            <p:cNvGrpSpPr/>
            <p:nvPr/>
          </p:nvGrpSpPr>
          <p:grpSpPr>
            <a:xfrm rot="5400000">
              <a:off x="1839289" y="0"/>
              <a:ext cx="2900681" cy="290068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25882"/>
                  </a:srgbClr>
                </a:solidFill>
                <a:prstDash val="solid"/>
                <a:miter/>
              </a:ln>
            </p:spPr>
          </p:sp>
          <p:sp>
            <p:nvSpPr>
              <p:cNvPr name="TextBox 20" id="20"/>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21" id="21"/>
            <p:cNvGrpSpPr/>
            <p:nvPr/>
          </p:nvGrpSpPr>
          <p:grpSpPr>
            <a:xfrm rot="5400000">
              <a:off x="0" y="0"/>
              <a:ext cx="2900681" cy="290068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alpha val="10980"/>
                  </a:srgbClr>
                </a:solidFill>
                <a:prstDash val="solid"/>
                <a:miter/>
              </a:ln>
            </p:spPr>
          </p:sp>
          <p:sp>
            <p:nvSpPr>
              <p:cNvPr name="TextBox 23" id="23"/>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sp>
        <p:nvSpPr>
          <p:cNvPr name="AutoShape 24" id="24"/>
          <p:cNvSpPr/>
          <p:nvPr/>
        </p:nvSpPr>
        <p:spPr>
          <a:xfrm>
            <a:off x="14595281" y="5335012"/>
            <a:ext cx="2698789" cy="0"/>
          </a:xfrm>
          <a:prstGeom prst="line">
            <a:avLst/>
          </a:prstGeom>
          <a:ln cap="flat" w="19050">
            <a:solidFill>
              <a:srgbClr val="000000"/>
            </a:solidFill>
            <a:prstDash val="solid"/>
            <a:headEnd type="oval" len="lg" w="lg"/>
            <a:tailEnd type="oval" len="lg" w="lg"/>
          </a:ln>
        </p:spPr>
      </p:sp>
      <p:grpSp>
        <p:nvGrpSpPr>
          <p:cNvPr name="Group 25" id="25"/>
          <p:cNvGrpSpPr/>
          <p:nvPr/>
        </p:nvGrpSpPr>
        <p:grpSpPr>
          <a:xfrm rot="0">
            <a:off x="13032539" y="8308305"/>
            <a:ext cx="1891601" cy="949995"/>
            <a:chOff x="0" y="0"/>
            <a:chExt cx="2522134" cy="1266660"/>
          </a:xfrm>
        </p:grpSpPr>
        <p:grpSp>
          <p:nvGrpSpPr>
            <p:cNvPr name="Group 26" id="26"/>
            <p:cNvGrpSpPr/>
            <p:nvPr/>
          </p:nvGrpSpPr>
          <p:grpSpPr>
            <a:xfrm rot="5400000">
              <a:off x="0" y="0"/>
              <a:ext cx="1266660" cy="126666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28" id="28"/>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29" id="29"/>
            <p:cNvGrpSpPr/>
            <p:nvPr/>
          </p:nvGrpSpPr>
          <p:grpSpPr>
            <a:xfrm rot="5400000">
              <a:off x="1255475" y="0"/>
              <a:ext cx="1266660" cy="126666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31" id="31"/>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32" id="32"/>
            <p:cNvSpPr/>
            <p:nvPr/>
          </p:nvSpPr>
          <p:spPr>
            <a:xfrm flipH="false" flipV="false" rot="0">
              <a:off x="1519032" y="375833"/>
              <a:ext cx="739545" cy="514993"/>
            </a:xfrm>
            <a:custGeom>
              <a:avLst/>
              <a:gdLst/>
              <a:ahLst/>
              <a:cxnLst/>
              <a:rect r="r" b="b" t="t" l="l"/>
              <a:pathLst>
                <a:path h="514993" w="739545">
                  <a:moveTo>
                    <a:pt x="0" y="0"/>
                  </a:moveTo>
                  <a:lnTo>
                    <a:pt x="739545" y="0"/>
                  </a:lnTo>
                  <a:lnTo>
                    <a:pt x="739545" y="514993"/>
                  </a:lnTo>
                  <a:lnTo>
                    <a:pt x="0" y="5149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33" id="33"/>
          <p:cNvGrpSpPr/>
          <p:nvPr/>
        </p:nvGrpSpPr>
        <p:grpSpPr>
          <a:xfrm rot="0">
            <a:off x="10689449" y="8308305"/>
            <a:ext cx="1891601" cy="949995"/>
            <a:chOff x="0" y="0"/>
            <a:chExt cx="2522134" cy="1266660"/>
          </a:xfrm>
        </p:grpSpPr>
        <p:grpSp>
          <p:nvGrpSpPr>
            <p:cNvPr name="Group 34" id="34"/>
            <p:cNvGrpSpPr/>
            <p:nvPr/>
          </p:nvGrpSpPr>
          <p:grpSpPr>
            <a:xfrm rot="5400000">
              <a:off x="0" y="0"/>
              <a:ext cx="1266660" cy="1266660"/>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36" id="36"/>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nvGrpSpPr>
            <p:cNvPr name="Group 37" id="37"/>
            <p:cNvGrpSpPr/>
            <p:nvPr/>
          </p:nvGrpSpPr>
          <p:grpSpPr>
            <a:xfrm rot="5400000">
              <a:off x="1255475" y="0"/>
              <a:ext cx="1266660" cy="1266660"/>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39" id="39"/>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grpSp>
      <p:sp>
        <p:nvSpPr>
          <p:cNvPr name="Freeform 40" id="40"/>
          <p:cNvSpPr/>
          <p:nvPr/>
        </p:nvSpPr>
        <p:spPr>
          <a:xfrm flipH="false" flipV="false" rot="-10800000">
            <a:off x="13330060" y="5099400"/>
            <a:ext cx="272435" cy="452174"/>
          </a:xfrm>
          <a:custGeom>
            <a:avLst/>
            <a:gdLst/>
            <a:ahLst/>
            <a:cxnLst/>
            <a:rect r="r" b="b" t="t" l="l"/>
            <a:pathLst>
              <a:path h="452174" w="272435">
                <a:moveTo>
                  <a:pt x="0" y="0"/>
                </a:moveTo>
                <a:lnTo>
                  <a:pt x="272435" y="0"/>
                </a:lnTo>
                <a:lnTo>
                  <a:pt x="272435" y="452174"/>
                </a:lnTo>
                <a:lnTo>
                  <a:pt x="0" y="4521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1" id="41"/>
          <p:cNvGrpSpPr/>
          <p:nvPr/>
        </p:nvGrpSpPr>
        <p:grpSpPr>
          <a:xfrm rot="0">
            <a:off x="15367699" y="8308305"/>
            <a:ext cx="1891601" cy="949995"/>
            <a:chOff x="0" y="0"/>
            <a:chExt cx="2522134" cy="1266660"/>
          </a:xfrm>
        </p:grpSpPr>
        <p:grpSp>
          <p:nvGrpSpPr>
            <p:cNvPr name="Group 42" id="42"/>
            <p:cNvGrpSpPr/>
            <p:nvPr/>
          </p:nvGrpSpPr>
          <p:grpSpPr>
            <a:xfrm rot="5400000">
              <a:off x="0" y="0"/>
              <a:ext cx="1266660" cy="126666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000000"/>
                </a:solidFill>
                <a:prstDash val="solid"/>
                <a:miter/>
              </a:ln>
            </p:spPr>
          </p:sp>
          <p:sp>
            <p:nvSpPr>
              <p:cNvPr name="TextBox 44" id="44"/>
              <p:cNvSpPr txBox="true"/>
              <p:nvPr/>
            </p:nvSpPr>
            <p:spPr>
              <a:xfrm>
                <a:off x="76200" y="66675"/>
                <a:ext cx="660400" cy="669925"/>
              </a:xfrm>
              <a:prstGeom prst="rect">
                <a:avLst/>
              </a:prstGeom>
            </p:spPr>
            <p:txBody>
              <a:bodyPr anchor="ctr" rtlCol="false" tIns="44738" lIns="44738" bIns="44738" rIns="44738"/>
              <a:lstStyle/>
              <a:p>
                <a:pPr algn="ctr">
                  <a:lnSpc>
                    <a:spcPts val="1950"/>
                  </a:lnSpc>
                </a:pPr>
              </a:p>
            </p:txBody>
          </p:sp>
        </p:grpSp>
        <p:grpSp>
          <p:nvGrpSpPr>
            <p:cNvPr name="Group 45" id="45"/>
            <p:cNvGrpSpPr/>
            <p:nvPr/>
          </p:nvGrpSpPr>
          <p:grpSpPr>
            <a:xfrm rot="5400000">
              <a:off x="1266660" y="0"/>
              <a:ext cx="1255475" cy="1255475"/>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name="TextBox 47" id="47"/>
              <p:cNvSpPr txBox="true"/>
              <p:nvPr/>
            </p:nvSpPr>
            <p:spPr>
              <a:xfrm>
                <a:off x="76200" y="66675"/>
                <a:ext cx="660400" cy="669925"/>
              </a:xfrm>
              <a:prstGeom prst="rect">
                <a:avLst/>
              </a:prstGeom>
            </p:spPr>
            <p:txBody>
              <a:bodyPr anchor="ctr" rtlCol="false" tIns="50800" lIns="50800" bIns="50800" rIns="50800"/>
              <a:lstStyle/>
              <a:p>
                <a:pPr algn="ctr">
                  <a:lnSpc>
                    <a:spcPts val="1950"/>
                  </a:lnSpc>
                </a:pPr>
              </a:p>
            </p:txBody>
          </p:sp>
        </p:grpSp>
        <p:sp>
          <p:nvSpPr>
            <p:cNvPr name="Freeform 48" id="48"/>
            <p:cNvSpPr/>
            <p:nvPr/>
          </p:nvSpPr>
          <p:spPr>
            <a:xfrm flipH="false" flipV="false" rot="0">
              <a:off x="1618299" y="450031"/>
              <a:ext cx="552195" cy="355413"/>
            </a:xfrm>
            <a:custGeom>
              <a:avLst/>
              <a:gdLst/>
              <a:ahLst/>
              <a:cxnLst/>
              <a:rect r="r" b="b" t="t" l="l"/>
              <a:pathLst>
                <a:path h="355413" w="552195">
                  <a:moveTo>
                    <a:pt x="0" y="0"/>
                  </a:moveTo>
                  <a:lnTo>
                    <a:pt x="552195" y="0"/>
                  </a:lnTo>
                  <a:lnTo>
                    <a:pt x="552195" y="355413"/>
                  </a:lnTo>
                  <a:lnTo>
                    <a:pt x="0" y="3554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DAG-Fwl-n0o</dc:identifier>
  <dcterms:modified xsi:type="dcterms:W3CDTF">2011-08-01T06:04:30Z</dcterms:modified>
  <cp:revision>1</cp:revision>
  <dc:title>Kelompok 3</dc:title>
</cp:coreProperties>
</file>